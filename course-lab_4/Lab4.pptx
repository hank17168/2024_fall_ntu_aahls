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1"/>
  </p:notesMasterIdLst>
  <p:sldIdLst>
    <p:sldId id="256" r:id="rId2"/>
    <p:sldId id="257" r:id="rId3"/>
    <p:sldId id="271" r:id="rId4"/>
    <p:sldId id="272" r:id="rId5"/>
    <p:sldId id="273" r:id="rId6"/>
    <p:sldId id="274" r:id="rId7"/>
    <p:sldId id="275" r:id="rId8"/>
    <p:sldId id="276" r:id="rId9"/>
    <p:sldId id="277" r:id="rId10"/>
    <p:sldId id="266" r:id="rId11"/>
    <p:sldId id="278" r:id="rId12"/>
    <p:sldId id="279" r:id="rId13"/>
    <p:sldId id="280" r:id="rId14"/>
    <p:sldId id="281" r:id="rId15"/>
    <p:sldId id="282" r:id="rId16"/>
    <p:sldId id="283" r:id="rId17"/>
    <p:sldId id="284" r:id="rId18"/>
    <p:sldId id="285" r:id="rId19"/>
    <p:sldId id="286" r:id="rId20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56BA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40143" autoAdjust="0"/>
    <p:restoredTop sz="90941" autoAdjust="0"/>
  </p:normalViewPr>
  <p:slideViewPr>
    <p:cSldViewPr snapToGrid="0">
      <p:cViewPr varScale="1">
        <p:scale>
          <a:sx n="27" d="100"/>
          <a:sy n="27" d="100"/>
        </p:scale>
        <p:origin x="76" y="7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-3822" y="-7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DDF730-D5BD-408C-AAAF-86ED09196212}" type="datetimeFigureOut">
              <a:rPr lang="zh-TW" altLang="en-US" smtClean="0"/>
              <a:t>2024/12/28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CFFAE8-B663-45FE-ABF6-5C4B27D6B91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018360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CFFAE8-B663-45FE-ABF6-5C4B27D6B915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258984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1a2adc72d0_0_15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g31a2adc72d0_0_1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1a2c6dfb77_3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1a2c6dfb77_3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1a2c6dfb77_3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1a2c6dfb77_3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1a2c6dfb77_3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1a2c6dfb77_3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1a52f7e157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g31a52f7e15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1a52f7e157_0_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g31a52f7e157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1a52f7e157_0_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g31a52f7e157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1a52f7e157_0_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g31a52f7e157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1a52f7e157_0_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g31a52f7e157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1c43bd8b2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1c43bd8b2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1c43bd8b2a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1c43bd8b2a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1c43bd8b2a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31c43bd8b2a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1a52f7e157_0_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g31a52f7e157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a52f7e157_0_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g31a52f7e157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1a52f7e157_0_4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g31a52f7e157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1a52f7e157_0_5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g31a52f7e157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1a52f7e157_0_5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g31a52f7e157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1a52f7e157_0_6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g31a52f7e157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4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90222-1E29-4508-AF25-107B1B95CAB9}" type="datetime1">
              <a:rPr lang="zh-TW" altLang="en-US" smtClean="0"/>
              <a:t>2024/12/28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2BEBE-139C-4F4A-87B4-C5FD79C70161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D9404CB8-58AF-A257-03C3-24CAEF50B08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2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astelsSmooth/>
                    </a14:imgEffect>
                  </a14:imgLayer>
                </a14:imgProps>
              </a:ext>
            </a:extLst>
          </a:blip>
          <a:srcRect l="56526" t="32482"/>
          <a:stretch/>
        </p:blipFill>
        <p:spPr>
          <a:xfrm>
            <a:off x="9916998" y="4647230"/>
            <a:ext cx="2309299" cy="2201708"/>
          </a:xfrm>
          <a:prstGeom prst="rect">
            <a:avLst/>
          </a:prstGeom>
          <a:effectLst>
            <a:softEdge rad="635000"/>
          </a:effectLst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18CC766D-A6D2-6FE4-4AE4-BD1114262C9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9925" r="89325">
                        <a14:foregroundMark x1="63787" y1="82716" x2="88787" y2="47531"/>
                        <a14:foregroundMark x1="88787" y1="47531" x2="89154" y2="45062"/>
                      </a14:backgroundRemoval>
                    </a14:imgEffect>
                  </a14:imgLayer>
                </a14:imgProps>
              </a:ext>
            </a:extLst>
          </a:blip>
          <a:srcRect r="750"/>
          <a:stretch/>
        </p:blipFill>
        <p:spPr>
          <a:xfrm>
            <a:off x="7768045" y="6230874"/>
            <a:ext cx="4423955" cy="538452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797D55AF-990D-822E-5DCD-240609F29875}"/>
              </a:ext>
            </a:extLst>
          </p:cNvPr>
          <p:cNvSpPr/>
          <p:nvPr/>
        </p:nvSpPr>
        <p:spPr>
          <a:xfrm>
            <a:off x="0" y="6658494"/>
            <a:ext cx="12192000" cy="199506"/>
          </a:xfrm>
          <a:prstGeom prst="rect">
            <a:avLst/>
          </a:prstGeom>
          <a:solidFill>
            <a:srgbClr val="192F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0148D4D3-F5B1-4A3F-4ABC-EE1F29BBE7B0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alphaModFix amt="22000"/>
          </a:blip>
          <a:srcRect t="6314"/>
          <a:stretch/>
        </p:blipFill>
        <p:spPr>
          <a:xfrm>
            <a:off x="0" y="9062"/>
            <a:ext cx="12192000" cy="876637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1A9CFFFA-1202-CFAA-E771-E1588181586B}"/>
              </a:ext>
            </a:extLst>
          </p:cNvPr>
          <p:cNvSpPr/>
          <p:nvPr/>
        </p:nvSpPr>
        <p:spPr>
          <a:xfrm>
            <a:off x="3823855" y="0"/>
            <a:ext cx="8358909" cy="301198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38000">
                <a:schemeClr val="bg1"/>
              </a:gs>
              <a:gs pos="100000">
                <a:schemeClr val="bg1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D59B8B0-7FAF-0C28-9EC9-6A7E3BC136F8}"/>
              </a:ext>
            </a:extLst>
          </p:cNvPr>
          <p:cNvSpPr/>
          <p:nvPr/>
        </p:nvSpPr>
        <p:spPr>
          <a:xfrm>
            <a:off x="7728" y="554768"/>
            <a:ext cx="12175036" cy="111112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23000">
                <a:schemeClr val="bg1"/>
              </a:gs>
              <a:gs pos="100000">
                <a:schemeClr val="bg1"/>
              </a:gs>
            </a:gsLst>
            <a:lin ang="5400000" scaled="1"/>
          </a:gra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51A62C3-137B-7C71-720D-378EDD1BC504}"/>
              </a:ext>
            </a:extLst>
          </p:cNvPr>
          <p:cNvSpPr/>
          <p:nvPr/>
        </p:nvSpPr>
        <p:spPr>
          <a:xfrm>
            <a:off x="1254919" y="3539753"/>
            <a:ext cx="9653803" cy="4571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5" name="Picture 4" descr="臺大校徽- 國立臺灣大學">
            <a:extLst>
              <a:ext uri="{FF2B5EF4-FFF2-40B4-BE49-F238E27FC236}">
                <a16:creationId xmlns:a16="http://schemas.microsoft.com/office/drawing/2014/main" id="{AD0BC4DB-2814-6604-1489-152EB1DD80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95395" y="9061"/>
            <a:ext cx="1188876" cy="1178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TW" altLang="en-US"/>
              <a:t>按一下以編輯母片副標題樣式</a:t>
            </a:r>
            <a:endParaRPr lang="en-US" dirty="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BE789E7-A42E-053E-225F-4E3B72A02730}"/>
              </a:ext>
            </a:extLst>
          </p:cNvPr>
          <p:cNvSpPr/>
          <p:nvPr/>
        </p:nvSpPr>
        <p:spPr>
          <a:xfrm>
            <a:off x="11647054" y="6230873"/>
            <a:ext cx="554181" cy="511739"/>
          </a:xfrm>
          <a:prstGeom prst="rect">
            <a:avLst/>
          </a:prstGeom>
          <a:solidFill>
            <a:srgbClr val="192F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98F3A830-C263-6D54-751F-AF9CDB2CA2A5}"/>
              </a:ext>
            </a:extLst>
          </p:cNvPr>
          <p:cNvSpPr txBox="1"/>
          <p:nvPr/>
        </p:nvSpPr>
        <p:spPr>
          <a:xfrm>
            <a:off x="11157360" y="6399994"/>
            <a:ext cx="1043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chemeClr val="bg1"/>
                </a:solidFill>
                <a:latin typeface="Arial Black" panose="020B0A04020102020204" pitchFamily="34" charset="0"/>
              </a:rPr>
              <a:t>ECLAB</a:t>
            </a:r>
            <a:endParaRPr lang="zh-TW" altLang="en-US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73810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127" y="214466"/>
            <a:ext cx="10515600" cy="534155"/>
          </a:xfrm>
        </p:spPr>
        <p:txBody>
          <a:bodyPr/>
          <a:lstStyle>
            <a:lvl1pPr>
              <a:defRPr baseline="0">
                <a:solidFill>
                  <a:srgbClr val="002060"/>
                </a:solidFill>
                <a:latin typeface="+mn-lt"/>
                <a:ea typeface="+mn-ea"/>
                <a:cs typeface="Arial Unicode MS" pitchFamily="34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5127" y="1136071"/>
            <a:ext cx="10515600" cy="5077693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2A57F-9E1F-4FE2-85EB-120DC7553D3D}" type="datetime1">
              <a:rPr lang="zh-TW" altLang="en-US" smtClean="0"/>
              <a:t>2024/12/28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2BEBE-139C-4F4A-87B4-C5FD79C70161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D15975C-FBC9-5DE0-5F8C-4883BA8730C2}"/>
              </a:ext>
            </a:extLst>
          </p:cNvPr>
          <p:cNvSpPr/>
          <p:nvPr/>
        </p:nvSpPr>
        <p:spPr>
          <a:xfrm>
            <a:off x="645319" y="894194"/>
            <a:ext cx="11094099" cy="4571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AC694E98-9393-AC65-DDA2-61486794BF5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73546"/>
          <a:stretch/>
        </p:blipFill>
        <p:spPr>
          <a:xfrm flipV="1">
            <a:off x="9294829" y="4893"/>
            <a:ext cx="2897171" cy="764109"/>
          </a:xfrm>
          <a:prstGeom prst="rect">
            <a:avLst/>
          </a:prstGeom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7EC05BD5-6EB6-0D06-C257-2C9F9A1076C1}"/>
              </a:ext>
            </a:extLst>
          </p:cNvPr>
          <p:cNvSpPr txBox="1"/>
          <p:nvPr/>
        </p:nvSpPr>
        <p:spPr>
          <a:xfrm>
            <a:off x="10411761" y="8880"/>
            <a:ext cx="17659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2000" b="0" dirty="0">
                <a:solidFill>
                  <a:schemeClr val="accent1">
                    <a:lumMod val="40000"/>
                    <a:lumOff val="60000"/>
                  </a:schemeClr>
                </a:solidFill>
                <a:latin typeface="Impact" panose="020B0806030902050204" pitchFamily="34" charset="0"/>
              </a:rPr>
              <a:t>ECLAB</a:t>
            </a:r>
            <a:endParaRPr lang="zh-TW" altLang="en-US" sz="2000" b="0" dirty="0">
              <a:solidFill>
                <a:schemeClr val="accent1">
                  <a:lumMod val="40000"/>
                  <a:lumOff val="60000"/>
                </a:schemeClr>
              </a:solidFill>
              <a:latin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34508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12423"/>
            <a:ext cx="10515600" cy="2851208"/>
          </a:xfrm>
        </p:spPr>
        <p:txBody>
          <a:bodyPr anchor="b">
            <a:normAutofit/>
          </a:bodyPr>
          <a:lstStyle>
            <a:lvl1pPr>
              <a:defRPr sz="60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52633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3F2ED8-5D66-40F2-B903-5C2F2A28E926}" type="datetime1">
              <a:rPr lang="zh-TW" altLang="en-US" smtClean="0"/>
              <a:t>2024/12/28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2BEBE-139C-4F4A-87B4-C5FD79C7016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872379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0"/>
            <a:ext cx="5181600" cy="4351337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0"/>
            <a:ext cx="5181600" cy="4351337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D062A-00C6-40A8-BCE5-70646AB90A4E}" type="datetime1">
              <a:rPr lang="zh-TW" altLang="en-US" smtClean="0"/>
              <a:t>2024/12/28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2BEBE-139C-4F4A-87B4-C5FD79C7016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40362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0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0"/>
            <a:ext cx="5156200" cy="36805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7550"/>
            <a:ext cx="5181601" cy="36805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76665-50AA-4A84-A43A-7672A1E88542}" type="datetime1">
              <a:rPr lang="zh-TW" altLang="en-US" smtClean="0"/>
              <a:t>2024/12/28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2BEBE-139C-4F4A-87B4-C5FD79C70161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00078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EDB74-C2F0-4D18-AA88-DC727EBB7811}" type="datetime1">
              <a:rPr lang="zh-TW" altLang="en-US" smtClean="0"/>
              <a:t>2024/12/28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2BEBE-139C-4F4A-87B4-C5FD79C70161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2433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DA4B5-4129-455E-B089-03A63EAE0406}" type="datetime1">
              <a:rPr lang="zh-TW" altLang="en-US" smtClean="0"/>
              <a:t>2024/12/28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2BEBE-139C-4F4A-87B4-C5FD79C7016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050043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197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D6072-92CC-416D-B91F-A9C48852272D}" type="datetime1">
              <a:rPr lang="zh-TW" altLang="en-US" smtClean="0"/>
              <a:t>2024/12/28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2BEBE-139C-4F4A-87B4-C5FD79C7016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160125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6BD83-578F-4FAA-8DF3-B02C837524D4}" type="datetime1">
              <a:rPr lang="zh-TW" altLang="en-US" smtClean="0"/>
              <a:t>2024/12/28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2BEBE-139C-4F4A-87B4-C5FD79C7016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606379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2E6AC-B95D-4932-B6F1-A7793E373D87}" type="datetime1">
              <a:rPr lang="zh-TW" altLang="en-US" smtClean="0"/>
              <a:t>2024/12/28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2BEBE-139C-4F4A-87B4-C5FD79C7016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330135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0362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0362"/>
            <a:ext cx="7734300" cy="5811837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D3984-94FE-49D4-9AF4-6106CE9DAC38}" type="datetime1">
              <a:rPr lang="zh-TW" altLang="en-US" smtClean="0"/>
              <a:t>2024/12/28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2BEBE-139C-4F4A-87B4-C5FD79C7016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951464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0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B0AF4D6B-A565-40B4-8937-ABC3B7FBAF3E}" type="datetime1">
              <a:rPr lang="zh-TW" altLang="en-US" smtClean="0"/>
              <a:t>2024/12/28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62BEBE-139C-4F4A-87B4-C5FD79C7016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34456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2238702"/>
            <a:ext cx="12192000" cy="987481"/>
          </a:xfrm>
        </p:spPr>
        <p:txBody>
          <a:bodyPr>
            <a:normAutofit/>
          </a:bodyPr>
          <a:lstStyle/>
          <a:p>
            <a:r>
              <a:rPr lang="en-US" altLang="zh-TW" sz="4800" dirty="0">
                <a:solidFill>
                  <a:srgbClr val="002060"/>
                </a:solidFill>
              </a:rPr>
              <a:t>Lab4 Caravel-FIR Hardware-Software Codesign</a:t>
            </a:r>
            <a:endParaRPr lang="zh-TW" altLang="en-US" sz="4800" dirty="0">
              <a:solidFill>
                <a:srgbClr val="00206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774758"/>
            <a:ext cx="9144000" cy="597545"/>
          </a:xfrm>
        </p:spPr>
        <p:txBody>
          <a:bodyPr/>
          <a:lstStyle/>
          <a:p>
            <a:r>
              <a:rPr lang="zh-TW" altLang="en-US" dirty="0">
                <a:solidFill>
                  <a:srgbClr val="002060"/>
                </a:solidFill>
              </a:rPr>
              <a:t>陳瀚坪</a:t>
            </a:r>
            <a:r>
              <a:rPr lang="en-US" altLang="zh-TW" dirty="0">
                <a:solidFill>
                  <a:srgbClr val="002060"/>
                </a:solidFill>
              </a:rPr>
              <a:t>  </a:t>
            </a:r>
            <a:r>
              <a:rPr lang="zh-TW" altLang="en-US" dirty="0">
                <a:solidFill>
                  <a:srgbClr val="002060"/>
                </a:solidFill>
              </a:rPr>
              <a:t>姜維</a:t>
            </a:r>
            <a:r>
              <a:rPr lang="en-US" altLang="zh-TW" dirty="0">
                <a:solidFill>
                  <a:srgbClr val="002060"/>
                </a:solidFill>
              </a:rPr>
              <a:t>  </a:t>
            </a:r>
            <a:r>
              <a:rPr lang="zh-TW" altLang="en-US" dirty="0">
                <a:solidFill>
                  <a:srgbClr val="002060"/>
                </a:solidFill>
              </a:rPr>
              <a:t>吳鎧帆 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19744CA-4ABB-44A5-BA27-5644552C2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2BEBE-139C-4F4A-87B4-C5FD79C70161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123908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6"/>
          <p:cNvSpPr txBox="1">
            <a:spLocks noGrp="1"/>
          </p:cNvSpPr>
          <p:nvPr>
            <p:ph type="title"/>
          </p:nvPr>
        </p:nvSpPr>
        <p:spPr>
          <a:xfrm>
            <a:off x="845127" y="214467"/>
            <a:ext cx="10515600" cy="5344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rmAutofit fontScale="90000"/>
          </a:bodyPr>
          <a:lstStyle/>
          <a:p>
            <a:pPr>
              <a:spcBef>
                <a:spcPts val="0"/>
              </a:spcBef>
              <a:buClr>
                <a:srgbClr val="002060"/>
              </a:buClr>
              <a:buSzPct val="100000"/>
            </a:pPr>
            <a:r>
              <a:rPr lang="zh-TW"/>
              <a:t>Block Diagram</a:t>
            </a:r>
            <a:endParaRPr/>
          </a:p>
        </p:txBody>
      </p:sp>
      <p:sp>
        <p:nvSpPr>
          <p:cNvPr id="153" name="Google Shape;153;p26"/>
          <p:cNvSpPr txBox="1">
            <a:spLocks noGrp="1"/>
          </p:cNvSpPr>
          <p:nvPr>
            <p:ph type="body" idx="1"/>
          </p:nvPr>
        </p:nvSpPr>
        <p:spPr>
          <a:xfrm>
            <a:off x="845127" y="1136071"/>
            <a:ext cx="10515600" cy="5078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t" anchorCtr="0">
            <a:normAutofit/>
          </a:bodyPr>
          <a:lstStyle/>
          <a:p>
            <a:pPr marL="465667" indent="-457200">
              <a:spcBef>
                <a:spcPts val="0"/>
              </a:spcBef>
              <a:buClr>
                <a:schemeClr val="dk1"/>
              </a:buClr>
              <a:buSzPts val="2100"/>
              <a:buFont typeface="Wingdings" panose="05000000000000000000" pitchFamily="2" charset="2"/>
              <a:buChar char="l"/>
            </a:pPr>
            <a:r>
              <a:rPr lang="zh-TW" dirty="0"/>
              <a:t>Datapath</a:t>
            </a:r>
            <a:endParaRPr dirty="0"/>
          </a:p>
        </p:txBody>
      </p:sp>
      <p:pic>
        <p:nvPicPr>
          <p:cNvPr id="154" name="Google Shape;154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87215" y="1898675"/>
            <a:ext cx="9417572" cy="440614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文字方塊 1">
            <a:extLst>
              <a:ext uri="{FF2B5EF4-FFF2-40B4-BE49-F238E27FC236}">
                <a16:creationId xmlns:a16="http://schemas.microsoft.com/office/drawing/2014/main" id="{52B6F39C-361D-4DFB-BA38-F859593E9776}"/>
              </a:ext>
            </a:extLst>
          </p:cNvPr>
          <p:cNvSpPr txBox="1"/>
          <p:nvPr/>
        </p:nvSpPr>
        <p:spPr>
          <a:xfrm>
            <a:off x="6716110" y="3675071"/>
            <a:ext cx="11981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/>
              <a:t>0x_3800</a:t>
            </a:r>
            <a:endParaRPr lang="zh-TW" altLang="en-US" b="1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592324C2-2A19-4CC5-8226-2534AD8EBEF4}"/>
              </a:ext>
            </a:extLst>
          </p:cNvPr>
          <p:cNvSpPr txBox="1"/>
          <p:nvPr/>
        </p:nvSpPr>
        <p:spPr>
          <a:xfrm>
            <a:off x="1813034" y="3675071"/>
            <a:ext cx="11981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/>
              <a:t>0x_3000</a:t>
            </a:r>
            <a:endParaRPr lang="zh-TW" altLang="en-US" b="1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B5816711-CD08-4408-935C-9360F9148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2BEBE-139C-4F4A-87B4-C5FD79C70161}" type="slidenum">
              <a:rPr lang="zh-TW" altLang="en-US" smtClean="0"/>
              <a:t>2</a:t>
            </a:fld>
            <a:endParaRPr lang="zh-TW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8"/>
          <p:cNvSpPr txBox="1">
            <a:spLocks noGrp="1"/>
          </p:cNvSpPr>
          <p:nvPr>
            <p:ph type="title"/>
          </p:nvPr>
        </p:nvSpPr>
        <p:spPr>
          <a:xfrm>
            <a:off x="845127" y="214467"/>
            <a:ext cx="10515600" cy="534400"/>
          </a:xfrm>
          <a:prstGeom prst="rect">
            <a:avLst/>
          </a:prstGeom>
        </p:spPr>
        <p:txBody>
          <a:bodyPr spcFirstLastPara="1" vert="horz" wrap="square" lIns="91433" tIns="45700" rIns="91433" bIns="45700" rtlCol="0" anchor="ctr" anchorCtr="0">
            <a:normAutofit fontScale="90000"/>
          </a:bodyPr>
          <a:lstStyle/>
          <a:p>
            <a:pPr>
              <a:spcBef>
                <a:spcPts val="0"/>
              </a:spcBef>
            </a:pPr>
            <a:r>
              <a:rPr lang="zh-TW"/>
              <a:t>AXI read and write</a:t>
            </a:r>
            <a:endParaRPr/>
          </a:p>
        </p:txBody>
      </p:sp>
      <p:pic>
        <p:nvPicPr>
          <p:cNvPr id="165" name="Google Shape;165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3467" y="1136067"/>
            <a:ext cx="10397267" cy="26945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8251" y="3998632"/>
            <a:ext cx="10689367" cy="206806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96C4EF8E-EFF3-460C-95F2-3B8E97C5B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2BEBE-139C-4F4A-87B4-C5FD79C70161}" type="slidenum">
              <a:rPr lang="zh-TW" altLang="en-US" smtClean="0"/>
              <a:t>3</a:t>
            </a:fld>
            <a:endParaRPr lang="zh-TW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9"/>
          <p:cNvSpPr txBox="1">
            <a:spLocks noGrp="1"/>
          </p:cNvSpPr>
          <p:nvPr>
            <p:ph type="title"/>
          </p:nvPr>
        </p:nvSpPr>
        <p:spPr>
          <a:xfrm>
            <a:off x="845127" y="214467"/>
            <a:ext cx="10515600" cy="534400"/>
          </a:xfrm>
          <a:prstGeom prst="rect">
            <a:avLst/>
          </a:prstGeom>
        </p:spPr>
        <p:txBody>
          <a:bodyPr spcFirstLastPara="1" vert="horz" wrap="square" lIns="91433" tIns="45700" rIns="91433" bIns="45700" rtlCol="0" anchor="ctr" anchorCtr="0">
            <a:normAutofit fontScale="90000"/>
          </a:bodyPr>
          <a:lstStyle/>
          <a:p>
            <a:pPr>
              <a:spcBef>
                <a:spcPts val="0"/>
              </a:spcBef>
            </a:pPr>
            <a:r>
              <a:rPr lang="zh-TW"/>
              <a:t>stream in and out</a:t>
            </a:r>
            <a:endParaRPr/>
          </a:p>
        </p:txBody>
      </p:sp>
      <p:sp>
        <p:nvSpPr>
          <p:cNvPr id="172" name="Google Shape;172;p29"/>
          <p:cNvSpPr txBox="1">
            <a:spLocks noGrp="1"/>
          </p:cNvSpPr>
          <p:nvPr>
            <p:ph type="body" idx="1"/>
          </p:nvPr>
        </p:nvSpPr>
        <p:spPr>
          <a:xfrm>
            <a:off x="845127" y="1136071"/>
            <a:ext cx="10515600" cy="5078000"/>
          </a:xfrm>
          <a:prstGeom prst="rect">
            <a:avLst/>
          </a:prstGeom>
        </p:spPr>
        <p:txBody>
          <a:bodyPr spcFirstLastPara="1" vert="horz" wrap="square" lIns="91433" tIns="45700" rIns="91433" bIns="45700" rtlCol="0" anchor="t" anchorCtr="0">
            <a:normAutofit/>
          </a:bodyPr>
          <a:lstStyle/>
          <a:p>
            <a:pPr marL="0" indent="0">
              <a:spcBef>
                <a:spcPts val="1067"/>
              </a:spcBef>
              <a:buNone/>
            </a:pPr>
            <a:endParaRPr/>
          </a:p>
        </p:txBody>
      </p:sp>
      <p:pic>
        <p:nvPicPr>
          <p:cNvPr id="173" name="Google Shape;173;p29"/>
          <p:cNvPicPr preferRelativeResize="0"/>
          <p:nvPr/>
        </p:nvPicPr>
        <p:blipFill rotWithShape="1">
          <a:blip r:embed="rId3">
            <a:alphaModFix/>
          </a:blip>
          <a:srcRect t="3883" r="1690"/>
          <a:stretch/>
        </p:blipFill>
        <p:spPr>
          <a:xfrm>
            <a:off x="617667" y="992600"/>
            <a:ext cx="11174800" cy="507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211279B8-092A-4529-9DDE-426FBC5F5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2BEBE-139C-4F4A-87B4-C5FD79C70161}" type="slidenum">
              <a:rPr lang="zh-TW" altLang="en-US" smtClean="0"/>
              <a:t>4</a:t>
            </a:fld>
            <a:endParaRPr lang="zh-TW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97502" y="0"/>
            <a:ext cx="5049397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A5BCAC6F-D32D-4998-8530-DAC3C0378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2BEBE-139C-4F4A-87B4-C5FD79C70161}" type="slidenum">
              <a:rPr lang="zh-TW" altLang="en-US" smtClean="0"/>
              <a:t>5</a:t>
            </a:fld>
            <a:endParaRPr lang="zh-TW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1"/>
          <p:cNvSpPr txBox="1">
            <a:spLocks noGrp="1"/>
          </p:cNvSpPr>
          <p:nvPr>
            <p:ph type="title"/>
          </p:nvPr>
        </p:nvSpPr>
        <p:spPr>
          <a:xfrm>
            <a:off x="633845" y="160849"/>
            <a:ext cx="7886800" cy="400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rmAutofit fontScale="90000"/>
          </a:bodyPr>
          <a:lstStyle/>
          <a:p>
            <a:pPr>
              <a:spcBef>
                <a:spcPts val="0"/>
              </a:spcBef>
              <a:buClr>
                <a:srgbClr val="002060"/>
              </a:buClr>
              <a:buSzPct val="100000"/>
            </a:pPr>
            <a:r>
              <a:rPr lang="zh-TW"/>
              <a:t>Block Diagram</a:t>
            </a:r>
            <a:endParaRPr/>
          </a:p>
        </p:txBody>
      </p:sp>
      <p:sp>
        <p:nvSpPr>
          <p:cNvPr id="184" name="Google Shape;184;p31"/>
          <p:cNvSpPr txBox="1">
            <a:spLocks noGrp="1"/>
          </p:cNvSpPr>
          <p:nvPr>
            <p:ph type="body" idx="1"/>
          </p:nvPr>
        </p:nvSpPr>
        <p:spPr>
          <a:xfrm>
            <a:off x="845127" y="1136071"/>
            <a:ext cx="10515600" cy="5344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t" anchorCtr="0">
            <a:normAutofit/>
          </a:bodyPr>
          <a:lstStyle/>
          <a:p>
            <a:pPr marL="465667" indent="-457200">
              <a:spcBef>
                <a:spcPts val="0"/>
              </a:spcBef>
              <a:buClr>
                <a:schemeClr val="dk1"/>
              </a:buClr>
              <a:buSzPts val="2100"/>
              <a:buFont typeface="Wingdings" panose="05000000000000000000" pitchFamily="2" charset="2"/>
              <a:buChar char="l"/>
            </a:pPr>
            <a:r>
              <a:rPr lang="zh-TW" dirty="0"/>
              <a:t>Exmem FIR</a:t>
            </a:r>
            <a:endParaRPr dirty="0"/>
          </a:p>
        </p:txBody>
      </p:sp>
      <p:pic>
        <p:nvPicPr>
          <p:cNvPr id="185" name="Google Shape;185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46129" y="1670227"/>
            <a:ext cx="9499743" cy="51665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3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2311" y="4561271"/>
            <a:ext cx="6479691" cy="229673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D0A4E67A-820D-411A-9ADF-4E305FC1F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2BEBE-139C-4F4A-87B4-C5FD79C70161}" type="slidenum">
              <a:rPr lang="zh-TW" altLang="en-US" smtClean="0"/>
              <a:t>6</a:t>
            </a:fld>
            <a:endParaRPr lang="zh-TW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2"/>
          <p:cNvSpPr txBox="1">
            <a:spLocks noGrp="1"/>
          </p:cNvSpPr>
          <p:nvPr>
            <p:ph type="title"/>
          </p:nvPr>
        </p:nvSpPr>
        <p:spPr>
          <a:xfrm>
            <a:off x="633845" y="160849"/>
            <a:ext cx="7886800" cy="400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rmAutofit fontScale="90000"/>
          </a:bodyPr>
          <a:lstStyle/>
          <a:p>
            <a:pPr>
              <a:spcBef>
                <a:spcPts val="0"/>
              </a:spcBef>
              <a:buClr>
                <a:srgbClr val="002060"/>
              </a:buClr>
              <a:buSzPct val="100000"/>
            </a:pPr>
            <a:r>
              <a:rPr lang="zh-TW"/>
              <a:t>Waveform</a:t>
            </a:r>
            <a:endParaRPr/>
          </a:p>
        </p:txBody>
      </p:sp>
      <p:sp>
        <p:nvSpPr>
          <p:cNvPr id="192" name="Google Shape;192;p32"/>
          <p:cNvSpPr txBox="1">
            <a:spLocks noGrp="1"/>
          </p:cNvSpPr>
          <p:nvPr>
            <p:ph type="body" idx="1"/>
          </p:nvPr>
        </p:nvSpPr>
        <p:spPr>
          <a:xfrm>
            <a:off x="845127" y="1136072"/>
            <a:ext cx="10515600" cy="1068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t" anchorCtr="0">
            <a:normAutofit/>
          </a:bodyPr>
          <a:lstStyle/>
          <a:p>
            <a:pPr marL="465667" indent="-457200">
              <a:spcBef>
                <a:spcPts val="0"/>
              </a:spcBef>
              <a:buClr>
                <a:schemeClr val="dk1"/>
              </a:buClr>
              <a:buSzPts val="2100"/>
              <a:buFont typeface="Wingdings" panose="05000000000000000000" pitchFamily="2" charset="2"/>
              <a:buChar char="l"/>
            </a:pPr>
            <a:r>
              <a:rPr lang="zh-TW" dirty="0"/>
              <a:t>Waveform (303T / per Y)</a:t>
            </a:r>
            <a:endParaRPr dirty="0"/>
          </a:p>
          <a:p>
            <a:pPr marL="465667" indent="-457200">
              <a:spcBef>
                <a:spcPts val="1067"/>
              </a:spcBef>
              <a:buClr>
                <a:schemeClr val="dk1"/>
              </a:buClr>
              <a:buSzPts val="2100"/>
              <a:buFont typeface="Wingdings" panose="05000000000000000000" pitchFamily="2" charset="2"/>
              <a:buChar char="l"/>
            </a:pPr>
            <a:r>
              <a:rPr lang="zh-TW" dirty="0"/>
              <a:t>32’d10614 = 32’h2976 (76</a:t>
            </a:r>
            <a:r>
              <a:rPr lang="zh-TW" baseline="-25000" dirty="0"/>
              <a:t>h</a:t>
            </a:r>
            <a:r>
              <a:rPr lang="zh-TW" dirty="0"/>
              <a:t> = 118</a:t>
            </a:r>
            <a:r>
              <a:rPr lang="zh-TW" baseline="-25000" dirty="0"/>
              <a:t>d</a:t>
            </a:r>
            <a:r>
              <a:rPr lang="zh-TW" dirty="0"/>
              <a:t>)</a:t>
            </a:r>
            <a:endParaRPr dirty="0"/>
          </a:p>
        </p:txBody>
      </p:sp>
      <p:pic>
        <p:nvPicPr>
          <p:cNvPr id="193" name="Google Shape;193;p32"/>
          <p:cNvPicPr preferRelativeResize="0"/>
          <p:nvPr/>
        </p:nvPicPr>
        <p:blipFill rotWithShape="1">
          <a:blip r:embed="rId3">
            <a:alphaModFix/>
          </a:blip>
          <a:srcRect t="9082"/>
          <a:stretch/>
        </p:blipFill>
        <p:spPr>
          <a:xfrm>
            <a:off x="2071597" y="2167546"/>
            <a:ext cx="8062659" cy="469045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E44479DA-F73D-44EE-984A-8AE355E39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2BEBE-139C-4F4A-87B4-C5FD79C70161}" type="slidenum">
              <a:rPr lang="zh-TW" altLang="en-US" smtClean="0"/>
              <a:t>7</a:t>
            </a:fld>
            <a:endParaRPr lang="zh-TW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3"/>
          <p:cNvSpPr txBox="1">
            <a:spLocks noGrp="1"/>
          </p:cNvSpPr>
          <p:nvPr>
            <p:ph type="title"/>
          </p:nvPr>
        </p:nvSpPr>
        <p:spPr>
          <a:xfrm>
            <a:off x="633845" y="160849"/>
            <a:ext cx="7886800" cy="400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rmAutofit fontScale="90000"/>
          </a:bodyPr>
          <a:lstStyle/>
          <a:p>
            <a:pPr>
              <a:spcBef>
                <a:spcPts val="0"/>
              </a:spcBef>
              <a:buClr>
                <a:srgbClr val="002060"/>
              </a:buClr>
              <a:buSzPct val="100000"/>
            </a:pPr>
            <a:r>
              <a:rPr lang="zh-TW"/>
              <a:t>Waveform (Instruction Reorder )</a:t>
            </a:r>
            <a:endParaRPr/>
          </a:p>
        </p:txBody>
      </p:sp>
      <p:sp>
        <p:nvSpPr>
          <p:cNvPr id="199" name="Google Shape;199;p33"/>
          <p:cNvSpPr txBox="1">
            <a:spLocks noGrp="1"/>
          </p:cNvSpPr>
          <p:nvPr>
            <p:ph type="body" idx="1"/>
          </p:nvPr>
        </p:nvSpPr>
        <p:spPr>
          <a:xfrm>
            <a:off x="845127" y="1136072"/>
            <a:ext cx="10515600" cy="1068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t" anchorCtr="0">
            <a:normAutofit/>
          </a:bodyPr>
          <a:lstStyle/>
          <a:p>
            <a:pPr marL="465667" indent="-457200">
              <a:spcBef>
                <a:spcPts val="0"/>
              </a:spcBef>
              <a:buClr>
                <a:schemeClr val="dk1"/>
              </a:buClr>
              <a:buSzPts val="2100"/>
              <a:buFont typeface="Wingdings" panose="05000000000000000000" pitchFamily="2" charset="2"/>
              <a:buChar char="l"/>
            </a:pPr>
            <a:r>
              <a:rPr lang="zh-TW" dirty="0"/>
              <a:t>Waveform (243T / per Y)</a:t>
            </a:r>
            <a:endParaRPr dirty="0"/>
          </a:p>
          <a:p>
            <a:pPr marL="465667" indent="-457200">
              <a:spcBef>
                <a:spcPts val="1067"/>
              </a:spcBef>
              <a:buClr>
                <a:schemeClr val="dk1"/>
              </a:buClr>
              <a:buSzPts val="2100"/>
              <a:buFont typeface="Wingdings" panose="05000000000000000000" pitchFamily="2" charset="2"/>
              <a:buChar char="l"/>
            </a:pPr>
            <a:r>
              <a:rPr lang="zh-TW" dirty="0"/>
              <a:t>36cycle(SS) + 67cycle(Fir.v) + 140cycle(SM) </a:t>
            </a:r>
            <a:endParaRPr dirty="0"/>
          </a:p>
        </p:txBody>
      </p:sp>
      <p:pic>
        <p:nvPicPr>
          <p:cNvPr id="200" name="Google Shape;200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94657" y="2204720"/>
            <a:ext cx="7002687" cy="456834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732AB61F-3EA4-4E49-A51F-6009F719A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2BEBE-139C-4F4A-87B4-C5FD79C70161}" type="slidenum">
              <a:rPr lang="zh-TW" altLang="en-US" smtClean="0"/>
              <a:t>8</a:t>
            </a:fld>
            <a:endParaRPr lang="zh-TW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4"/>
          <p:cNvSpPr txBox="1">
            <a:spLocks noGrp="1"/>
          </p:cNvSpPr>
          <p:nvPr>
            <p:ph type="title"/>
          </p:nvPr>
        </p:nvSpPr>
        <p:spPr>
          <a:xfrm>
            <a:off x="633832" y="160833"/>
            <a:ext cx="8806800" cy="400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rmAutofit fontScale="90000"/>
          </a:bodyPr>
          <a:lstStyle/>
          <a:p>
            <a:pPr>
              <a:spcBef>
                <a:spcPts val="0"/>
              </a:spcBef>
              <a:buClr>
                <a:srgbClr val="002060"/>
              </a:buClr>
              <a:buSzPct val="100000"/>
            </a:pPr>
            <a:r>
              <a:rPr lang="zh-TW"/>
              <a:t>Waveform (Instruction Reorder &amp; -O2)</a:t>
            </a:r>
            <a:endParaRPr/>
          </a:p>
        </p:txBody>
      </p:sp>
      <p:sp>
        <p:nvSpPr>
          <p:cNvPr id="206" name="Google Shape;206;p34"/>
          <p:cNvSpPr txBox="1">
            <a:spLocks noGrp="1"/>
          </p:cNvSpPr>
          <p:nvPr>
            <p:ph type="body" idx="1"/>
          </p:nvPr>
        </p:nvSpPr>
        <p:spPr>
          <a:xfrm>
            <a:off x="845127" y="1136072"/>
            <a:ext cx="10515600" cy="1068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t" anchorCtr="0">
            <a:normAutofit/>
          </a:bodyPr>
          <a:lstStyle/>
          <a:p>
            <a:pPr marL="465667" indent="-457200">
              <a:spcBef>
                <a:spcPts val="0"/>
              </a:spcBef>
              <a:buClr>
                <a:schemeClr val="dk1"/>
              </a:buClr>
              <a:buSzPts val="2100"/>
              <a:buFont typeface="Wingdings" panose="05000000000000000000" pitchFamily="2" charset="2"/>
              <a:buChar char="l"/>
            </a:pPr>
            <a:r>
              <a:rPr lang="zh-TW" dirty="0"/>
              <a:t>Waveform (23T / per Y)</a:t>
            </a:r>
            <a:endParaRPr dirty="0"/>
          </a:p>
          <a:p>
            <a:pPr marL="465667" indent="-457200">
              <a:spcBef>
                <a:spcPts val="1067"/>
              </a:spcBef>
              <a:buClr>
                <a:schemeClr val="dk1"/>
              </a:buClr>
              <a:buSzPts val="2100"/>
              <a:buFont typeface="Wingdings" panose="05000000000000000000" pitchFamily="2" charset="2"/>
              <a:buChar char="l"/>
            </a:pPr>
            <a:r>
              <a:rPr lang="zh-TW" dirty="0"/>
              <a:t>9cycle(SS) + 14cycle(Fir.v)</a:t>
            </a:r>
            <a:endParaRPr dirty="0"/>
          </a:p>
        </p:txBody>
      </p:sp>
      <p:pic>
        <p:nvPicPr>
          <p:cNvPr id="207" name="Google Shape;207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51199" y="2264335"/>
            <a:ext cx="6689604" cy="437919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2791A0DA-C6F4-4107-BF4F-23FDCD679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2BEBE-139C-4F4A-87B4-C5FD79C70161}" type="slidenum">
              <a:rPr lang="zh-TW" altLang="en-US" smtClean="0"/>
              <a:t>9</a:t>
            </a:fld>
            <a:endParaRPr lang="zh-TW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5"/>
          <p:cNvSpPr txBox="1">
            <a:spLocks noGrp="1"/>
          </p:cNvSpPr>
          <p:nvPr>
            <p:ph type="title"/>
          </p:nvPr>
        </p:nvSpPr>
        <p:spPr>
          <a:xfrm>
            <a:off x="633832" y="160833"/>
            <a:ext cx="8626000" cy="400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rmAutofit fontScale="90000"/>
          </a:bodyPr>
          <a:lstStyle/>
          <a:p>
            <a:pPr>
              <a:spcBef>
                <a:spcPts val="0"/>
              </a:spcBef>
              <a:buClr>
                <a:srgbClr val="002060"/>
              </a:buClr>
              <a:buSzPct val="100000"/>
            </a:pPr>
            <a:r>
              <a:rPr lang="zh-TW"/>
              <a:t>Waveform (Instruction Reorder 2 &amp; -O2)</a:t>
            </a:r>
            <a:endParaRPr/>
          </a:p>
        </p:txBody>
      </p:sp>
      <p:sp>
        <p:nvSpPr>
          <p:cNvPr id="213" name="Google Shape;213;p35"/>
          <p:cNvSpPr txBox="1">
            <a:spLocks noGrp="1"/>
          </p:cNvSpPr>
          <p:nvPr>
            <p:ph type="body" idx="1"/>
          </p:nvPr>
        </p:nvSpPr>
        <p:spPr>
          <a:xfrm>
            <a:off x="845127" y="1136072"/>
            <a:ext cx="10515600" cy="1068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t" anchorCtr="0">
            <a:normAutofit/>
          </a:bodyPr>
          <a:lstStyle/>
          <a:p>
            <a:pPr marL="465667" indent="-457200">
              <a:spcBef>
                <a:spcPts val="0"/>
              </a:spcBef>
              <a:buClr>
                <a:schemeClr val="dk1"/>
              </a:buClr>
              <a:buSzPts val="2100"/>
              <a:buFont typeface="Wingdings" panose="05000000000000000000" pitchFamily="2" charset="2"/>
              <a:buChar char="l"/>
            </a:pPr>
            <a:r>
              <a:rPr lang="zh-TW" dirty="0"/>
              <a:t>Waveform (16T / per Y)</a:t>
            </a:r>
            <a:endParaRPr dirty="0"/>
          </a:p>
          <a:p>
            <a:pPr marL="465667" indent="-457200">
              <a:spcBef>
                <a:spcPts val="1067"/>
              </a:spcBef>
              <a:buClr>
                <a:schemeClr val="dk1"/>
              </a:buClr>
              <a:buSzPts val="2100"/>
              <a:buFont typeface="Wingdings" panose="05000000000000000000" pitchFamily="2" charset="2"/>
              <a:buChar char="l"/>
            </a:pPr>
            <a:r>
              <a:rPr lang="zh-TW" dirty="0"/>
              <a:t>2cycle(SS) + 14cycle(Fir.v)</a:t>
            </a:r>
            <a:endParaRPr dirty="0"/>
          </a:p>
        </p:txBody>
      </p:sp>
      <p:pic>
        <p:nvPicPr>
          <p:cNvPr id="214" name="Google Shape;214;p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30814" y="2126415"/>
            <a:ext cx="7130372" cy="462876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ACC1B304-BDC2-40C5-BD10-04BA4A528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2BEBE-139C-4F4A-87B4-C5FD79C70161}" type="slidenum">
              <a:rPr lang="zh-TW" altLang="en-US" smtClean="0"/>
              <a:t>10</a:t>
            </a:fld>
            <a:endParaRPr lang="zh-TW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3967" y="1482467"/>
            <a:ext cx="7064699" cy="4720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69001" y="1482467"/>
            <a:ext cx="4885700" cy="4626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36"/>
          <p:cNvSpPr txBox="1">
            <a:spLocks noGrp="1"/>
          </p:cNvSpPr>
          <p:nvPr>
            <p:ph type="title"/>
          </p:nvPr>
        </p:nvSpPr>
        <p:spPr>
          <a:xfrm>
            <a:off x="633832" y="160833"/>
            <a:ext cx="8626000" cy="400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rmAutofit fontScale="90000"/>
          </a:bodyPr>
          <a:lstStyle/>
          <a:p>
            <a:pPr>
              <a:spcBef>
                <a:spcPts val="0"/>
              </a:spcBef>
              <a:buClr>
                <a:srgbClr val="002060"/>
              </a:buClr>
              <a:buSzPct val="100000"/>
            </a:pPr>
            <a:r>
              <a:rPr lang="zh-TW"/>
              <a:t>Improve FIR</a:t>
            </a:r>
            <a:endParaRPr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1A3F3153-4620-4F2E-B5BF-405BECE26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2BEBE-139C-4F4A-87B4-C5FD79C70161}" type="slidenum">
              <a:rPr lang="zh-TW" altLang="en-US" smtClean="0"/>
              <a:t>11</a:t>
            </a:fld>
            <a:endParaRPr lang="zh-TW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200" y="1274201"/>
            <a:ext cx="11785603" cy="19927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3200" y="3429001"/>
            <a:ext cx="11785603" cy="3074128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37"/>
          <p:cNvSpPr txBox="1">
            <a:spLocks noGrp="1"/>
          </p:cNvSpPr>
          <p:nvPr>
            <p:ph type="title"/>
          </p:nvPr>
        </p:nvSpPr>
        <p:spPr>
          <a:xfrm>
            <a:off x="633832" y="160833"/>
            <a:ext cx="8626000" cy="400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rmAutofit fontScale="90000"/>
          </a:bodyPr>
          <a:lstStyle/>
          <a:p>
            <a:pPr>
              <a:spcBef>
                <a:spcPts val="0"/>
              </a:spcBef>
              <a:buClr>
                <a:srgbClr val="002060"/>
              </a:buClr>
              <a:buSzPct val="100000"/>
            </a:pPr>
            <a:r>
              <a:rPr lang="zh-TW"/>
              <a:t>Fir.c</a:t>
            </a:r>
            <a:endParaRPr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7DA62394-9072-4B20-B7EE-371CEE9BA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2BEBE-139C-4F4A-87B4-C5FD79C70161}" type="slidenum">
              <a:rPr lang="zh-TW" altLang="en-US" smtClean="0"/>
              <a:t>12</a:t>
            </a:fld>
            <a:endParaRPr lang="zh-TW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" name="Google Shape;233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15251" y="1082134"/>
            <a:ext cx="7561501" cy="5700365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38"/>
          <p:cNvSpPr txBox="1">
            <a:spLocks noGrp="1"/>
          </p:cNvSpPr>
          <p:nvPr>
            <p:ph type="title"/>
          </p:nvPr>
        </p:nvSpPr>
        <p:spPr>
          <a:xfrm>
            <a:off x="633832" y="160833"/>
            <a:ext cx="8626000" cy="400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rmAutofit fontScale="90000"/>
          </a:bodyPr>
          <a:lstStyle/>
          <a:p>
            <a:pPr>
              <a:spcBef>
                <a:spcPts val="0"/>
              </a:spcBef>
              <a:buClr>
                <a:srgbClr val="002060"/>
              </a:buClr>
              <a:buSzPct val="100000"/>
            </a:pPr>
            <a:r>
              <a:rPr lang="zh-TW"/>
              <a:t>Why it can reduce cycle ?</a:t>
            </a:r>
            <a:endParaRPr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CB110509-7CCE-4C94-8CA4-CA9C640B4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2BEBE-139C-4F4A-87B4-C5FD79C70161}" type="slidenum">
              <a:rPr lang="zh-TW" altLang="en-US" smtClean="0"/>
              <a:t>13</a:t>
            </a:fld>
            <a:endParaRPr lang="zh-TW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9"/>
          <p:cNvSpPr txBox="1">
            <a:spLocks noGrp="1"/>
          </p:cNvSpPr>
          <p:nvPr>
            <p:ph type="title"/>
          </p:nvPr>
        </p:nvSpPr>
        <p:spPr>
          <a:xfrm>
            <a:off x="633845" y="160849"/>
            <a:ext cx="7886800" cy="400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rmAutofit fontScale="90000"/>
          </a:bodyPr>
          <a:lstStyle/>
          <a:p>
            <a:pPr>
              <a:spcBef>
                <a:spcPts val="0"/>
              </a:spcBef>
              <a:buClr>
                <a:srgbClr val="002060"/>
              </a:buClr>
              <a:buSzPct val="100000"/>
            </a:pPr>
            <a:r>
              <a:rPr lang="zh-TW"/>
              <a:t>Waveform</a:t>
            </a:r>
            <a:endParaRPr/>
          </a:p>
        </p:txBody>
      </p:sp>
      <p:sp>
        <p:nvSpPr>
          <p:cNvPr id="240" name="Google Shape;240;p39"/>
          <p:cNvSpPr txBox="1">
            <a:spLocks noGrp="1"/>
          </p:cNvSpPr>
          <p:nvPr>
            <p:ph type="body" idx="1"/>
          </p:nvPr>
        </p:nvSpPr>
        <p:spPr>
          <a:xfrm>
            <a:off x="845127" y="1136072"/>
            <a:ext cx="10515600" cy="562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t" anchorCtr="0">
            <a:normAutofit/>
          </a:bodyPr>
          <a:lstStyle/>
          <a:p>
            <a:pPr marL="465667" indent="-457200">
              <a:spcBef>
                <a:spcPts val="0"/>
              </a:spcBef>
              <a:buClr>
                <a:schemeClr val="dk1"/>
              </a:buClr>
              <a:buSzPts val="2100"/>
              <a:buFont typeface="Wingdings" panose="05000000000000000000" pitchFamily="2" charset="2"/>
              <a:buChar char="l"/>
            </a:pPr>
            <a:r>
              <a:rPr lang="zh-TW" dirty="0"/>
              <a:t>Waveform</a:t>
            </a:r>
            <a:endParaRPr dirty="0"/>
          </a:p>
        </p:txBody>
      </p:sp>
      <p:pic>
        <p:nvPicPr>
          <p:cNvPr id="241" name="Google Shape;241;p39"/>
          <p:cNvPicPr preferRelativeResize="0"/>
          <p:nvPr/>
        </p:nvPicPr>
        <p:blipFill rotWithShape="1">
          <a:blip r:embed="rId3">
            <a:alphaModFix/>
          </a:blip>
          <a:srcRect l="11085" t="17286" r="7935" b="10474"/>
          <a:stretch/>
        </p:blipFill>
        <p:spPr>
          <a:xfrm>
            <a:off x="1159397" y="1698815"/>
            <a:ext cx="9873203" cy="495396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A7EA6614-CAD6-465A-8FB6-7FEC3DBC4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2BEBE-139C-4F4A-87B4-C5FD79C70161}" type="slidenum">
              <a:rPr lang="zh-TW" altLang="en-US" smtClean="0"/>
              <a:t>14</a:t>
            </a:fld>
            <a:endParaRPr lang="zh-TW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40"/>
          <p:cNvSpPr txBox="1">
            <a:spLocks noGrp="1"/>
          </p:cNvSpPr>
          <p:nvPr>
            <p:ph type="title"/>
          </p:nvPr>
        </p:nvSpPr>
        <p:spPr>
          <a:xfrm>
            <a:off x="633845" y="160849"/>
            <a:ext cx="7886800" cy="400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rmAutofit fontScale="90000"/>
          </a:bodyPr>
          <a:lstStyle/>
          <a:p>
            <a:pPr>
              <a:spcBef>
                <a:spcPts val="0"/>
              </a:spcBef>
              <a:buClr>
                <a:srgbClr val="002060"/>
              </a:buClr>
              <a:buSzPct val="100000"/>
            </a:pPr>
            <a:r>
              <a:rPr lang="zh-TW"/>
              <a:t>Waveform (Optimization)</a:t>
            </a:r>
            <a:endParaRPr/>
          </a:p>
        </p:txBody>
      </p:sp>
      <p:pic>
        <p:nvPicPr>
          <p:cNvPr id="247" name="Google Shape;247;p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7660" y="1008504"/>
            <a:ext cx="11536683" cy="563502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0AF8EA89-ABD0-4097-A211-DB9C5C7F1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2BEBE-139C-4F4A-87B4-C5FD79C70161}" type="slidenum">
              <a:rPr lang="zh-TW" altLang="en-US" smtClean="0"/>
              <a:t>15</a:t>
            </a:fld>
            <a:endParaRPr lang="zh-TW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41"/>
          <p:cNvSpPr txBox="1">
            <a:spLocks noGrp="1"/>
          </p:cNvSpPr>
          <p:nvPr>
            <p:ph type="title"/>
          </p:nvPr>
        </p:nvSpPr>
        <p:spPr>
          <a:xfrm>
            <a:off x="633845" y="160849"/>
            <a:ext cx="7886800" cy="400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rmAutofit fontScale="90000"/>
          </a:bodyPr>
          <a:lstStyle/>
          <a:p>
            <a:pPr>
              <a:spcBef>
                <a:spcPts val="0"/>
              </a:spcBef>
              <a:buClr>
                <a:srgbClr val="002060"/>
              </a:buClr>
              <a:buSzPct val="100000"/>
            </a:pPr>
            <a:r>
              <a:rPr lang="zh-TW"/>
              <a:t>Waveform (Optimization 2)</a:t>
            </a:r>
            <a:endParaRPr/>
          </a:p>
        </p:txBody>
      </p:sp>
      <p:pic>
        <p:nvPicPr>
          <p:cNvPr id="253" name="Google Shape;253;p4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9059" y="1045773"/>
            <a:ext cx="11453880" cy="5597761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41"/>
          <p:cNvSpPr/>
          <p:nvPr/>
        </p:nvSpPr>
        <p:spPr>
          <a:xfrm>
            <a:off x="4893013" y="2762655"/>
            <a:ext cx="437600" cy="5644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867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5" name="Google Shape;255;p41"/>
          <p:cNvSpPr/>
          <p:nvPr/>
        </p:nvSpPr>
        <p:spPr>
          <a:xfrm>
            <a:off x="10317805" y="2762655"/>
            <a:ext cx="437600" cy="5644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867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56" name="Google Shape;256;p41"/>
          <p:cNvCxnSpPr/>
          <p:nvPr/>
        </p:nvCxnSpPr>
        <p:spPr>
          <a:xfrm>
            <a:off x="10536677" y="1391055"/>
            <a:ext cx="0" cy="5252400"/>
          </a:xfrm>
          <a:prstGeom prst="straightConnector1">
            <a:avLst/>
          </a:prstGeom>
          <a:noFill/>
          <a:ln w="9525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EAABE532-8B7A-44B2-A48A-6CCF3FAD0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2BEBE-139C-4F4A-87B4-C5FD79C70161}" type="slidenum">
              <a:rPr lang="zh-TW" altLang="en-US" smtClean="0"/>
              <a:t>16</a:t>
            </a:fld>
            <a:endParaRPr lang="zh-TW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42"/>
          <p:cNvSpPr txBox="1">
            <a:spLocks noGrp="1"/>
          </p:cNvSpPr>
          <p:nvPr>
            <p:ph type="title"/>
          </p:nvPr>
        </p:nvSpPr>
        <p:spPr>
          <a:xfrm>
            <a:off x="633845" y="160849"/>
            <a:ext cx="7886800" cy="400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rmAutofit fontScale="90000"/>
          </a:bodyPr>
          <a:lstStyle/>
          <a:p>
            <a:pPr>
              <a:spcBef>
                <a:spcPts val="0"/>
              </a:spcBef>
              <a:buClr>
                <a:srgbClr val="002060"/>
              </a:buClr>
              <a:buSzPct val="100000"/>
            </a:pPr>
            <a:r>
              <a:rPr lang="zh-TW"/>
              <a:t>Fir.c (Optimization)</a:t>
            </a:r>
            <a:endParaRPr/>
          </a:p>
        </p:txBody>
      </p:sp>
      <p:pic>
        <p:nvPicPr>
          <p:cNvPr id="262" name="Google Shape;262;p4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7531" y="1132786"/>
            <a:ext cx="4130791" cy="55107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42"/>
          <p:cNvPicPr preferRelativeResize="0"/>
          <p:nvPr/>
        </p:nvPicPr>
        <p:blipFill rotWithShape="1">
          <a:blip r:embed="rId4">
            <a:alphaModFix/>
          </a:blip>
          <a:srcRect l="576" t="566"/>
          <a:stretch/>
        </p:blipFill>
        <p:spPr>
          <a:xfrm>
            <a:off x="4267200" y="1164168"/>
            <a:ext cx="3992880" cy="547936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4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84090" y="1104402"/>
            <a:ext cx="4107911" cy="553913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9BF8B4C1-E64C-4379-B977-08E7AA341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2BEBE-139C-4F4A-87B4-C5FD79C70161}" type="slidenum">
              <a:rPr lang="zh-TW" altLang="en-US" smtClean="0"/>
              <a:t>17</a:t>
            </a:fld>
            <a:endParaRPr lang="zh-TW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43"/>
          <p:cNvSpPr txBox="1">
            <a:spLocks noGrp="1"/>
          </p:cNvSpPr>
          <p:nvPr>
            <p:ph type="title"/>
          </p:nvPr>
        </p:nvSpPr>
        <p:spPr>
          <a:xfrm>
            <a:off x="633845" y="160849"/>
            <a:ext cx="7886800" cy="400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rmAutofit fontScale="90000"/>
          </a:bodyPr>
          <a:lstStyle/>
          <a:p>
            <a:pPr>
              <a:spcBef>
                <a:spcPts val="0"/>
              </a:spcBef>
              <a:buClr>
                <a:srgbClr val="002060"/>
              </a:buClr>
              <a:buSzPct val="100000"/>
            </a:pPr>
            <a:r>
              <a:rPr lang="zh-TW" dirty="0"/>
              <a:t>Fir.h</a:t>
            </a:r>
            <a:endParaRPr dirty="0"/>
          </a:p>
        </p:txBody>
      </p:sp>
      <p:pic>
        <p:nvPicPr>
          <p:cNvPr id="270" name="Google Shape;270;p43"/>
          <p:cNvPicPr preferRelativeResize="0"/>
          <p:nvPr/>
        </p:nvPicPr>
        <p:blipFill rotWithShape="1">
          <a:blip r:embed="rId3">
            <a:alphaModFix/>
          </a:blip>
          <a:srcRect l="477"/>
          <a:stretch/>
        </p:blipFill>
        <p:spPr>
          <a:xfrm>
            <a:off x="1809106" y="1395868"/>
            <a:ext cx="8573788" cy="504264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5B8DD875-38CA-4756-A7E5-69B73E370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2BEBE-139C-4F4A-87B4-C5FD79C70161}" type="slidenum">
              <a:rPr lang="zh-TW" altLang="en-US" smtClean="0"/>
              <a:t>18</a:t>
            </a:fld>
            <a:endParaRPr lang="zh-TW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44"/>
          <p:cNvSpPr txBox="1">
            <a:spLocks noGrp="1"/>
          </p:cNvSpPr>
          <p:nvPr>
            <p:ph type="title"/>
          </p:nvPr>
        </p:nvSpPr>
        <p:spPr>
          <a:xfrm>
            <a:off x="633845" y="160849"/>
            <a:ext cx="7886800" cy="400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rmAutofit fontScale="90000"/>
          </a:bodyPr>
          <a:lstStyle/>
          <a:p>
            <a:pPr>
              <a:spcBef>
                <a:spcPts val="0"/>
              </a:spcBef>
              <a:buClr>
                <a:srgbClr val="002060"/>
              </a:buClr>
              <a:buSzPct val="100000"/>
            </a:pPr>
            <a:r>
              <a:rPr lang="zh-TW"/>
              <a:t>Fir_control.c</a:t>
            </a:r>
            <a:endParaRPr/>
          </a:p>
        </p:txBody>
      </p:sp>
      <p:pic>
        <p:nvPicPr>
          <p:cNvPr id="276" name="Google Shape;276;p4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8077" y="950259"/>
            <a:ext cx="4863664" cy="590774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4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05195" y="950259"/>
            <a:ext cx="5129967" cy="320622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4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05195" y="4172111"/>
            <a:ext cx="4899683" cy="268588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26245E34-6F13-49B9-841C-037211B05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2BEBE-139C-4F4A-87B4-C5FD79C70161}" type="slidenum">
              <a:rPr lang="zh-TW" altLang="en-US" smtClean="0"/>
              <a:t>19</a:t>
            </a:fld>
            <a:endParaRPr lang="zh-TW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訂 2">
      <a:majorFont>
        <a:latin typeface="Times New Roman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NTU_template</Template>
  <TotalTime>15133</TotalTime>
  <Words>214</Words>
  <Application>Microsoft Office PowerPoint</Application>
  <PresentationFormat>寬螢幕</PresentationFormat>
  <Paragraphs>52</Paragraphs>
  <Slides>19</Slides>
  <Notes>19</Notes>
  <HiddenSlides>0</HiddenSlides>
  <MMClips>0</MMClips>
  <ScaleCrop>false</ScaleCrop>
  <HeadingPairs>
    <vt:vector size="6" baseType="variant">
      <vt:variant>
        <vt:lpstr>使用字型</vt:lpstr>
      </vt:variant>
      <vt:variant>
        <vt:i4>9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19</vt:i4>
      </vt:variant>
    </vt:vector>
  </HeadingPairs>
  <TitlesOfParts>
    <vt:vector size="29" baseType="lpstr">
      <vt:lpstr>Arial Unicode MS</vt:lpstr>
      <vt:lpstr>新細明體</vt:lpstr>
      <vt:lpstr>標楷體</vt:lpstr>
      <vt:lpstr>Arial Black</vt:lpstr>
      <vt:lpstr>Calibri</vt:lpstr>
      <vt:lpstr>Impact</vt:lpstr>
      <vt:lpstr>Times New Roman</vt:lpstr>
      <vt:lpstr>Wingdings</vt:lpstr>
      <vt:lpstr>Wingdings 2</vt:lpstr>
      <vt:lpstr>HDOfficeLightV0</vt:lpstr>
      <vt:lpstr>Lab4 Caravel-FIR Hardware-Software Codesign</vt:lpstr>
      <vt:lpstr>Block Diagram</vt:lpstr>
      <vt:lpstr>AXI read and write</vt:lpstr>
      <vt:lpstr>stream in and out</vt:lpstr>
      <vt:lpstr>PowerPoint 簡報</vt:lpstr>
      <vt:lpstr>Block Diagram</vt:lpstr>
      <vt:lpstr>Waveform</vt:lpstr>
      <vt:lpstr>Waveform (Instruction Reorder )</vt:lpstr>
      <vt:lpstr>Waveform (Instruction Reorder &amp; -O2)</vt:lpstr>
      <vt:lpstr>Waveform (Instruction Reorder 2 &amp; -O2)</vt:lpstr>
      <vt:lpstr>Improve FIR</vt:lpstr>
      <vt:lpstr>Fir.c</vt:lpstr>
      <vt:lpstr>Why it can reduce cycle ?</vt:lpstr>
      <vt:lpstr>Waveform</vt:lpstr>
      <vt:lpstr>Waveform (Optimization)</vt:lpstr>
      <vt:lpstr>Waveform (Optimization 2)</vt:lpstr>
      <vt:lpstr>Fir.c (Optimization)</vt:lpstr>
      <vt:lpstr>Fir.h</vt:lpstr>
      <vt:lpstr>Fir_control.c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Survey on RNA Quantification</dc:title>
  <dc:creator>Howard Zhong</dc:creator>
  <cp:lastModifiedBy>hank</cp:lastModifiedBy>
  <cp:revision>219</cp:revision>
  <dcterms:created xsi:type="dcterms:W3CDTF">2023-05-20T09:39:55Z</dcterms:created>
  <dcterms:modified xsi:type="dcterms:W3CDTF">2024-12-28T15:27:18Z</dcterms:modified>
</cp:coreProperties>
</file>