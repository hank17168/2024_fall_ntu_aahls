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標楷體" panose="03000509000000000000" pitchFamily="65" charset="-120"/>
      <p:regular r:id="rId17"/>
    </p:embeddedFont>
    <p:embeddedFont>
      <p:font typeface="Arial Black" panose="020B0A04020102020204" pitchFamily="3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Impact" panose="020B0806030902050204" pitchFamily="3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2ZwVl524n+devs6VpRdI9Q7up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1ef500c2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1ef500c28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21ef500c28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1ef500c28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1ef500c28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21ef500c28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1ef500c28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21ef500c28_2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21ef500c28_2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1ef500c28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1ef500c28_2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21ef500c28_2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1ef500c28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1ef500c28_2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21ef500c28_2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1ef500c28_3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21ef500c28_3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1ef500c28_3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21ef500c28_3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1ef500c28_3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21ef500c28_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1ef500c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1ef500c2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21ef500c2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1ef500c2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1ef500c28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21ef500c28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1ef500c2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21ef500c28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21ef500c28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6"/>
          <p:cNvPicPr preferRelativeResize="0"/>
          <p:nvPr/>
        </p:nvPicPr>
        <p:blipFill rotWithShape="1">
          <a:blip r:embed="rId2">
            <a:alphaModFix amt="20000"/>
          </a:blip>
          <a:srcRect l="56525" t="32481"/>
          <a:stretch/>
        </p:blipFill>
        <p:spPr>
          <a:xfrm>
            <a:off x="9916998" y="4647230"/>
            <a:ext cx="2309299" cy="2201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6"/>
          <p:cNvPicPr preferRelativeResize="0"/>
          <p:nvPr/>
        </p:nvPicPr>
        <p:blipFill rotWithShape="1">
          <a:blip r:embed="rId3">
            <a:alphaModFix/>
          </a:blip>
          <a:srcRect r="750"/>
          <a:stretch/>
        </p:blipFill>
        <p:spPr>
          <a:xfrm>
            <a:off x="7768045" y="6230874"/>
            <a:ext cx="4423955" cy="53845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6"/>
          <p:cNvSpPr/>
          <p:nvPr/>
        </p:nvSpPr>
        <p:spPr>
          <a:xfrm>
            <a:off x="0" y="6658494"/>
            <a:ext cx="12192000" cy="199506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" name="Google Shape;22;p6"/>
          <p:cNvPicPr preferRelativeResize="0"/>
          <p:nvPr/>
        </p:nvPicPr>
        <p:blipFill rotWithShape="1">
          <a:blip r:embed="rId4">
            <a:alphaModFix amt="22000"/>
          </a:blip>
          <a:srcRect t="6314"/>
          <a:stretch/>
        </p:blipFill>
        <p:spPr>
          <a:xfrm>
            <a:off x="0" y="9062"/>
            <a:ext cx="12192000" cy="87663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3" name="Google Shape;23;p6"/>
          <p:cNvSpPr/>
          <p:nvPr/>
        </p:nvSpPr>
        <p:spPr>
          <a:xfrm>
            <a:off x="3823855" y="0"/>
            <a:ext cx="8358909" cy="301198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chemeClr val="lt1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6"/>
          <p:cNvSpPr/>
          <p:nvPr/>
        </p:nvSpPr>
        <p:spPr>
          <a:xfrm>
            <a:off x="7728" y="554768"/>
            <a:ext cx="12175036" cy="111112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3000">
                <a:schemeClr val="lt1"/>
              </a:gs>
              <a:gs pos="100000">
                <a:schemeClr val="lt1"/>
              </a:gs>
            </a:gsLst>
            <a:lin ang="5400000" scaled="0"/>
          </a:gra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1254919" y="3539753"/>
            <a:ext cx="9653803" cy="45719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" name="Google Shape;26;p6" descr="臺大校徽- 國立臺灣大學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95395" y="9061"/>
            <a:ext cx="1188876" cy="117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 txBox="1"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11647054" y="6230873"/>
            <a:ext cx="554181" cy="511739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6"/>
          <p:cNvSpPr txBox="1"/>
          <p:nvPr/>
        </p:nvSpPr>
        <p:spPr>
          <a:xfrm>
            <a:off x="11157360" y="6399994"/>
            <a:ext cx="104387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ECLAB</a:t>
            </a: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Times New Roman"/>
              <a:buNone/>
              <a:defRPr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645319" y="894194"/>
            <a:ext cx="11094099" cy="45719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" name="Google Shape;38;p7"/>
          <p:cNvPicPr preferRelativeResize="0"/>
          <p:nvPr/>
        </p:nvPicPr>
        <p:blipFill rotWithShape="1">
          <a:blip r:embed="rId2">
            <a:alphaModFix/>
          </a:blip>
          <a:srcRect b="73546"/>
          <a:stretch/>
        </p:blipFill>
        <p:spPr>
          <a:xfrm rot="10800000" flipH="1">
            <a:off x="9294829" y="4893"/>
            <a:ext cx="2897171" cy="76410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/>
          <p:nvPr/>
        </p:nvSpPr>
        <p:spPr>
          <a:xfrm>
            <a:off x="10411761" y="8880"/>
            <a:ext cx="176595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BBD6EE"/>
                </a:solidFill>
                <a:latin typeface="Impact"/>
                <a:ea typeface="Impact"/>
                <a:cs typeface="Impact"/>
                <a:sym typeface="Impact"/>
              </a:rPr>
              <a:t>ECLAB</a:t>
            </a:r>
            <a:endParaRPr sz="2000" b="0">
              <a:solidFill>
                <a:srgbClr val="BBD6EE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845127" y="1828800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6172200" y="1828800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2"/>
          </p:nvPr>
        </p:nvSpPr>
        <p:spPr>
          <a:xfrm>
            <a:off x="845127" y="2507550"/>
            <a:ext cx="5156200" cy="368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3"/>
          </p:nvPr>
        </p:nvSpPr>
        <p:spPr>
          <a:xfrm>
            <a:off x="6172200" y="1681851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4"/>
          </p:nvPr>
        </p:nvSpPr>
        <p:spPr>
          <a:xfrm>
            <a:off x="6172200" y="2507550"/>
            <a:ext cx="5181601" cy="368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>
  <p:cSld name="只有標題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2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>
            <a:spLocks noGrp="1"/>
          </p:cNvSpPr>
          <p:nvPr>
            <p:ph type="pic" idx="2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4"/>
          <p:cNvSpPr txBox="1">
            <a:spLocks noGrp="1"/>
          </p:cNvSpPr>
          <p:nvPr>
            <p:ph type="body" idx="1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1"/>
          </p:nvPr>
        </p:nvSpPr>
        <p:spPr>
          <a:xfrm rot="5400000">
            <a:off x="3927259" y="-1253332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 rot="5400000">
            <a:off x="7133431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600869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●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189609" y="1132873"/>
            <a:ext cx="964114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Clr>
                <a:srgbClr val="002060"/>
              </a:buClr>
              <a:buSzPts val="4800"/>
            </a:pPr>
            <a:r>
              <a:rPr lang="en-US" sz="4800" dirty="0">
                <a:solidFill>
                  <a:srgbClr val="002060"/>
                </a:solidFill>
              </a:rPr>
              <a:t>Final Project</a:t>
            </a:r>
            <a:r>
              <a:rPr lang="zh-TW" altLang="en-US" sz="4800" dirty="0">
                <a:solidFill>
                  <a:srgbClr val="002060"/>
                </a:solidFill>
              </a:rPr>
              <a:t> </a:t>
            </a:r>
            <a:r>
              <a:rPr lang="en-US" altLang="zh-TW" sz="4800" dirty="0">
                <a:solidFill>
                  <a:srgbClr val="002060"/>
                </a:solidFill>
              </a:rPr>
              <a:t>WLOS Optimization</a:t>
            </a:r>
            <a:endParaRPr sz="4800" dirty="0">
              <a:solidFill>
                <a:srgbClr val="002060"/>
              </a:solidFill>
            </a:endParaRPr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1524000" y="3774758"/>
            <a:ext cx="9144000" cy="465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陳瀚坪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姜維</a:t>
            </a:r>
            <a:r>
              <a:rPr lang="zh-TW" alt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dirty="0">
                <a:solidFill>
                  <a:srgbClr val="00206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吳鎧帆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DBB6C9E-6984-411B-B94F-083C6CC4FD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Times New Roman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9" name="Google Shape;109;p2"/>
          <p:cNvSpPr txBox="1">
            <a:spLocks noGrp="1"/>
          </p:cNvSpPr>
          <p:nvPr>
            <p:ph type="body" idx="1"/>
          </p:nvPr>
        </p:nvSpPr>
        <p:spPr>
          <a:xfrm>
            <a:off x="845125" y="1136074"/>
            <a:ext cx="10515600" cy="54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Architecture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SDRAM Controller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Firmware Code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DMA Transfer Data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Section Linker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Memory Mapping lds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Quick Sort (Insertion Sort)</a:t>
            </a: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C580472-5873-4762-8A12-FE5F179DE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Times New Roman"/>
              <a:buNone/>
            </a:pPr>
            <a:r>
              <a:rPr lang="en-US"/>
              <a:t>Module Block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1937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DMA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FIR, Matmul, Quick sort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/>
              <a:t>SDRAM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336149" y="4257258"/>
            <a:ext cx="1569492" cy="369332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WB-AXI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6261086" y="5137539"/>
            <a:ext cx="1733266" cy="369332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Verilo-FIR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8499326" y="4257252"/>
            <a:ext cx="1895700" cy="6465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SDRAM Controller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2639504" y="2732524"/>
            <a:ext cx="6596793" cy="369332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WB Decode</a:t>
            </a:r>
            <a:endParaRPr/>
          </a:p>
        </p:txBody>
      </p:sp>
      <p:cxnSp>
        <p:nvCxnSpPr>
          <p:cNvPr id="120" name="Google Shape;120;p3"/>
          <p:cNvCxnSpPr/>
          <p:nvPr/>
        </p:nvCxnSpPr>
        <p:spPr>
          <a:xfrm flipH="1">
            <a:off x="7352907" y="3957850"/>
            <a:ext cx="307075" cy="29940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3"/>
          <p:cNvCxnSpPr/>
          <p:nvPr/>
        </p:nvCxnSpPr>
        <p:spPr>
          <a:xfrm>
            <a:off x="8657119" y="3205113"/>
            <a:ext cx="381287" cy="105214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2" name="Google Shape;122;p3"/>
          <p:cNvSpPr txBox="1"/>
          <p:nvPr/>
        </p:nvSpPr>
        <p:spPr>
          <a:xfrm>
            <a:off x="9004287" y="3971498"/>
            <a:ext cx="122829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WB-interface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6414625" y="3960968"/>
            <a:ext cx="122829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WB-interface</a:t>
            </a:r>
            <a:endParaRPr/>
          </a:p>
        </p:txBody>
      </p:sp>
      <p:cxnSp>
        <p:nvCxnSpPr>
          <p:cNvPr id="124" name="Google Shape;124;p3"/>
          <p:cNvCxnSpPr>
            <a:stCxn id="116" idx="2"/>
            <a:endCxn id="117" idx="0"/>
          </p:cNvCxnSpPr>
          <p:nvPr/>
        </p:nvCxnSpPr>
        <p:spPr>
          <a:xfrm>
            <a:off x="7120895" y="4626590"/>
            <a:ext cx="6900" cy="51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5" name="Google Shape;125;p3"/>
          <p:cNvSpPr txBox="1"/>
          <p:nvPr/>
        </p:nvSpPr>
        <p:spPr>
          <a:xfrm>
            <a:off x="6063195" y="4753718"/>
            <a:ext cx="13740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AXI-Lite, AXI-S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8499325" y="5215200"/>
            <a:ext cx="1895700" cy="307800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SDRAM</a:t>
            </a:r>
            <a:endParaRPr/>
          </a:p>
        </p:txBody>
      </p:sp>
      <p:cxnSp>
        <p:nvCxnSpPr>
          <p:cNvPr id="127" name="Google Shape;127;p3"/>
          <p:cNvCxnSpPr/>
          <p:nvPr/>
        </p:nvCxnSpPr>
        <p:spPr>
          <a:xfrm>
            <a:off x="6636400" y="5506871"/>
            <a:ext cx="0" cy="27893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3"/>
          <p:cNvSpPr txBox="1"/>
          <p:nvPr/>
        </p:nvSpPr>
        <p:spPr>
          <a:xfrm>
            <a:off x="6186024" y="5787492"/>
            <a:ext cx="975815" cy="461665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tapRAM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(inference)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7238609" y="5777300"/>
            <a:ext cx="1074756" cy="461665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dataRAM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(inference)</a:t>
            </a:r>
            <a:endParaRPr/>
          </a:p>
        </p:txBody>
      </p:sp>
      <p:cxnSp>
        <p:nvCxnSpPr>
          <p:cNvPr id="130" name="Google Shape;130;p3"/>
          <p:cNvCxnSpPr/>
          <p:nvPr/>
        </p:nvCxnSpPr>
        <p:spPr>
          <a:xfrm>
            <a:off x="7506444" y="5506871"/>
            <a:ext cx="0" cy="26891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1" name="Google Shape;131;p3"/>
          <p:cNvCxnSpPr/>
          <p:nvPr/>
        </p:nvCxnSpPr>
        <p:spPr>
          <a:xfrm>
            <a:off x="9379173" y="4912490"/>
            <a:ext cx="0" cy="30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32" name="Google Shape;132;p3"/>
          <p:cNvSpPr txBox="1"/>
          <p:nvPr/>
        </p:nvSpPr>
        <p:spPr>
          <a:xfrm>
            <a:off x="3963149" y="4270906"/>
            <a:ext cx="1569492" cy="369332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WB-AXI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3888086" y="5151187"/>
            <a:ext cx="1733266" cy="369332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Matmul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4" name="Google Shape;134;p3"/>
          <p:cNvCxnSpPr/>
          <p:nvPr/>
        </p:nvCxnSpPr>
        <p:spPr>
          <a:xfrm flipH="1">
            <a:off x="4979907" y="3971498"/>
            <a:ext cx="307075" cy="29940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" name="Google Shape;135;p3"/>
          <p:cNvSpPr txBox="1"/>
          <p:nvPr/>
        </p:nvSpPr>
        <p:spPr>
          <a:xfrm>
            <a:off x="4041625" y="3974616"/>
            <a:ext cx="122829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WB-interface</a:t>
            </a:r>
            <a:endParaRPr/>
          </a:p>
        </p:txBody>
      </p:sp>
      <p:cxnSp>
        <p:nvCxnSpPr>
          <p:cNvPr id="136" name="Google Shape;136;p3"/>
          <p:cNvCxnSpPr>
            <a:stCxn id="132" idx="2"/>
            <a:endCxn id="133" idx="0"/>
          </p:cNvCxnSpPr>
          <p:nvPr/>
        </p:nvCxnSpPr>
        <p:spPr>
          <a:xfrm>
            <a:off x="4747895" y="4640238"/>
            <a:ext cx="6900" cy="51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7" name="Google Shape;137;p3"/>
          <p:cNvSpPr txBox="1"/>
          <p:nvPr/>
        </p:nvSpPr>
        <p:spPr>
          <a:xfrm>
            <a:off x="3690195" y="4767366"/>
            <a:ext cx="1380911" cy="286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AXI-Lite, AXI-S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720655" y="4270906"/>
            <a:ext cx="1569492" cy="369332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WB-AXI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1645592" y="5151187"/>
            <a:ext cx="1733266" cy="369332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sort</a:t>
            </a:r>
            <a:endParaRPr/>
          </a:p>
        </p:txBody>
      </p:sp>
      <p:cxnSp>
        <p:nvCxnSpPr>
          <p:cNvPr id="140" name="Google Shape;140;p3"/>
          <p:cNvCxnSpPr/>
          <p:nvPr/>
        </p:nvCxnSpPr>
        <p:spPr>
          <a:xfrm flipH="1">
            <a:off x="2737413" y="3971498"/>
            <a:ext cx="307075" cy="29940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1" name="Google Shape;141;p3"/>
          <p:cNvSpPr txBox="1"/>
          <p:nvPr/>
        </p:nvSpPr>
        <p:spPr>
          <a:xfrm>
            <a:off x="1799131" y="3974616"/>
            <a:ext cx="122829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WB-interface</a:t>
            </a:r>
            <a:endParaRPr/>
          </a:p>
        </p:txBody>
      </p:sp>
      <p:cxnSp>
        <p:nvCxnSpPr>
          <p:cNvPr id="142" name="Google Shape;142;p3"/>
          <p:cNvCxnSpPr>
            <a:stCxn id="138" idx="2"/>
            <a:endCxn id="139" idx="0"/>
          </p:cNvCxnSpPr>
          <p:nvPr/>
        </p:nvCxnSpPr>
        <p:spPr>
          <a:xfrm>
            <a:off x="2505401" y="4640238"/>
            <a:ext cx="6900" cy="51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3" name="Google Shape;143;p3"/>
          <p:cNvSpPr txBox="1"/>
          <p:nvPr/>
        </p:nvSpPr>
        <p:spPr>
          <a:xfrm>
            <a:off x="1447701" y="4767366"/>
            <a:ext cx="1380911" cy="286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AXI-Lite, AXI-S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2639505" y="3529726"/>
            <a:ext cx="5194166" cy="367822"/>
          </a:xfrm>
          <a:prstGeom prst="rect">
            <a:avLst/>
          </a:prstGeom>
          <a:solidFill>
            <a:srgbClr val="00B0F0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DMA</a:t>
            </a:r>
            <a:endParaRPr/>
          </a:p>
        </p:txBody>
      </p:sp>
      <p:cxnSp>
        <p:nvCxnSpPr>
          <p:cNvPr id="145" name="Google Shape;145;p3"/>
          <p:cNvCxnSpPr/>
          <p:nvPr/>
        </p:nvCxnSpPr>
        <p:spPr>
          <a:xfrm>
            <a:off x="5937900" y="2992606"/>
            <a:ext cx="0" cy="45349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6" name="Google Shape;146;p3"/>
          <p:cNvCxnSpPr/>
          <p:nvPr/>
        </p:nvCxnSpPr>
        <p:spPr>
          <a:xfrm rot="10800000">
            <a:off x="7905641" y="3753797"/>
            <a:ext cx="808990" cy="47474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8D5CF56-3AC0-4D00-AA31-DDE193D552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1ef500c28_2_0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53" name="Google Shape;153;g321ef500c28_2_0"/>
          <p:cNvSpPr txBox="1">
            <a:spLocks noGrp="1"/>
          </p:cNvSpPr>
          <p:nvPr>
            <p:ph type="body" idx="1"/>
          </p:nvPr>
        </p:nvSpPr>
        <p:spPr>
          <a:xfrm>
            <a:off x="528901" y="1124350"/>
            <a:ext cx="3975900" cy="50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Free CPU resource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Improve data transfer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Flow : </a:t>
            </a:r>
            <a:endParaRPr/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Init module input data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Start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dma transfer data from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SDRAM to Accelarator</a:t>
            </a:r>
            <a:endParaRPr/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CPU wait done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g321ef500c28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963" y="1227050"/>
            <a:ext cx="7019925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38DE5F2-7602-45F6-B376-1932ED66C1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1ef500c28_2_7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SDRAM Control</a:t>
            </a:r>
            <a:endParaRPr/>
          </a:p>
        </p:txBody>
      </p:sp>
      <p:sp>
        <p:nvSpPr>
          <p:cNvPr id="161" name="Google Shape;161;g321ef500c28_2_7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SDRAM for Wishbon port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g321ef500c28_2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2535" y="1065823"/>
            <a:ext cx="5115638" cy="566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21ef500c28_2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538" y="2221725"/>
            <a:ext cx="4676775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49B0A7-CDCE-456D-88FB-68FA8660A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1ef500c28_2_16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SDRAM Control</a:t>
            </a:r>
            <a:endParaRPr/>
          </a:p>
        </p:txBody>
      </p:sp>
      <p:sp>
        <p:nvSpPr>
          <p:cNvPr id="170" name="Google Shape;170;g321ef500c28_2_16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Memory mapping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Change code/data in different memory bank</a:t>
            </a:r>
            <a:endParaRPr/>
          </a:p>
        </p:txBody>
      </p:sp>
      <p:pic>
        <p:nvPicPr>
          <p:cNvPr id="171" name="Google Shape;171;g321ef500c28_2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650" y="2230050"/>
            <a:ext cx="470535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21ef500c28_2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1150" y="1136075"/>
            <a:ext cx="2670200" cy="514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2EB6A8-A70A-426C-9FB0-40D3E1F200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1ef500c28_2_24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Firmware code</a:t>
            </a:r>
            <a:endParaRPr/>
          </a:p>
        </p:txBody>
      </p:sp>
      <p:sp>
        <p:nvSpPr>
          <p:cNvPr id="179" name="Google Shape;179;g321ef500c28_2_24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Change FIR transfer Input data method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Origin : 						 Now :  </a:t>
            </a:r>
            <a:endParaRPr/>
          </a:p>
        </p:txBody>
      </p:sp>
      <p:pic>
        <p:nvPicPr>
          <p:cNvPr id="180" name="Google Shape;180;g321ef500c28_2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7350" y="1810350"/>
            <a:ext cx="4778475" cy="46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21ef500c28_2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800" y="2864400"/>
            <a:ext cx="3788600" cy="358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21ef500c28_2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7347" y="2424325"/>
            <a:ext cx="3788600" cy="4331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21ef500c28_2_24"/>
          <p:cNvSpPr/>
          <p:nvPr/>
        </p:nvSpPr>
        <p:spPr>
          <a:xfrm>
            <a:off x="6113575" y="4450500"/>
            <a:ext cx="1956000" cy="796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g321ef500c28_2_24"/>
          <p:cNvSpPr/>
          <p:nvPr/>
        </p:nvSpPr>
        <p:spPr>
          <a:xfrm>
            <a:off x="1138925" y="3030750"/>
            <a:ext cx="1956000" cy="796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5" name="Google Shape;185;g321ef500c28_2_24"/>
          <p:cNvCxnSpPr>
            <a:stCxn id="184" idx="3"/>
            <a:endCxn id="183" idx="1"/>
          </p:cNvCxnSpPr>
          <p:nvPr/>
        </p:nvCxnSpPr>
        <p:spPr>
          <a:xfrm>
            <a:off x="3094925" y="3429000"/>
            <a:ext cx="3018600" cy="1419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g321ef500c28_2_24"/>
          <p:cNvSpPr txBox="1"/>
          <p:nvPr/>
        </p:nvSpPr>
        <p:spPr>
          <a:xfrm>
            <a:off x="3868800" y="3504275"/>
            <a:ext cx="549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change to init() to free CPU  </a:t>
            </a:r>
            <a:endParaRPr sz="17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BEED18C-64DA-49BF-A2B0-3E9A9858B9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1ef500c28_2_46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DMA Transfer Data</a:t>
            </a:r>
            <a:endParaRPr/>
          </a:p>
        </p:txBody>
      </p:sp>
      <p:sp>
        <p:nvSpPr>
          <p:cNvPr id="193" name="Google Shape;193;g321ef500c28_2_46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DMA </a:t>
            </a:r>
            <a:endParaRPr/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wait for 0x38000100 to start.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after start counter will plus 4 after ack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0x38000200 FIR Input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0x38000400 FIR Output</a:t>
            </a:r>
            <a:endParaRPr/>
          </a:p>
        </p:txBody>
      </p:sp>
      <p:pic>
        <p:nvPicPr>
          <p:cNvPr id="194" name="Google Shape;194;g321ef500c28_2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6725" y="1347775"/>
            <a:ext cx="3619875" cy="37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21ef500c28_2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875" y="3429000"/>
            <a:ext cx="3929000" cy="30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E24FA81-CF47-4334-B9CB-67A094FB78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1ef500c28_3_22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Times New Roman"/>
              <a:buNone/>
            </a:pPr>
            <a:r>
              <a:rPr lang="en-US"/>
              <a:t>Quick Sort</a:t>
            </a:r>
            <a:endParaRPr/>
          </a:p>
        </p:txBody>
      </p:sp>
      <p:sp>
        <p:nvSpPr>
          <p:cNvPr id="201" name="Google Shape;201;g321ef500c28_3_22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19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1526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Sorting Algorithm</a:t>
            </a:r>
            <a:endParaRPr/>
          </a:p>
          <a:p>
            <a:pPr marL="685800" lvl="1" indent="-21717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Quick sort</a:t>
            </a:r>
            <a:endParaRPr/>
          </a:p>
          <a:p>
            <a:pPr marL="685800" lvl="1" indent="-21717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Insertion Sort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/>
          </a:p>
          <a:p>
            <a:pPr marL="228600" lvl="0" indent="-2152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Hardware Friendly</a:t>
            </a:r>
            <a:endParaRPr/>
          </a:p>
          <a:p>
            <a:pPr marL="685800" lvl="1" indent="-21717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/>
              <a:t>Serial Input is more suitable for insertion sort</a:t>
            </a:r>
            <a:endParaRPr/>
          </a:p>
        </p:txBody>
      </p:sp>
      <p:pic>
        <p:nvPicPr>
          <p:cNvPr id="202" name="Google Shape;202;g321ef500c28_3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8600" y="3073175"/>
            <a:ext cx="4565675" cy="348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21ef500c28_3_22"/>
          <p:cNvPicPr preferRelativeResize="0"/>
          <p:nvPr/>
        </p:nvPicPr>
        <p:blipFill rotWithShape="1">
          <a:blip r:embed="rId4">
            <a:alphaModFix/>
          </a:blip>
          <a:srcRect t="10952"/>
          <a:stretch/>
        </p:blipFill>
        <p:spPr>
          <a:xfrm>
            <a:off x="191275" y="3460475"/>
            <a:ext cx="6951374" cy="3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0B2AF27-A301-4984-956D-6F1D1E132A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1ef500c28_3_29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Times New Roman"/>
              <a:buNone/>
            </a:pPr>
            <a:r>
              <a:rPr lang="en-US"/>
              <a:t>Quick Sort</a:t>
            </a:r>
            <a:endParaRPr/>
          </a:p>
        </p:txBody>
      </p:sp>
      <p:sp>
        <p:nvSpPr>
          <p:cNvPr id="209" name="Google Shape;209;g321ef500c28_3_29"/>
          <p:cNvSpPr txBox="1">
            <a:spLocks noGrp="1"/>
          </p:cNvSpPr>
          <p:nvPr>
            <p:ph type="body" idx="1"/>
          </p:nvPr>
        </p:nvSpPr>
        <p:spPr>
          <a:xfrm>
            <a:off x="845125" y="1174950"/>
            <a:ext cx="5710800" cy="1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00025" algn="l" rtl="0">
              <a:spcBef>
                <a:spcPts val="500"/>
              </a:spcBef>
              <a:spcAft>
                <a:spcPts val="0"/>
              </a:spcAft>
              <a:buSzPts val="2350"/>
              <a:buChar char="●"/>
            </a:pPr>
            <a:r>
              <a:rPr lang="en-US" sz="2350"/>
              <a:t>FSM</a:t>
            </a:r>
            <a:endParaRPr sz="2350"/>
          </a:p>
          <a:p>
            <a:pPr marL="228600" lvl="0" indent="-200025" algn="l" rtl="0">
              <a:spcBef>
                <a:spcPts val="500"/>
              </a:spcBef>
              <a:spcAft>
                <a:spcPts val="0"/>
              </a:spcAft>
              <a:buSzPts val="2350"/>
              <a:buChar char="●"/>
            </a:pPr>
            <a:r>
              <a:rPr lang="en-US" sz="2350"/>
              <a:t>Insertion Compare Logic</a:t>
            </a:r>
            <a:endParaRPr sz="2350"/>
          </a:p>
          <a:p>
            <a:pPr marL="228600" lvl="0" indent="-200025" algn="l" rtl="0">
              <a:spcBef>
                <a:spcPts val="500"/>
              </a:spcBef>
              <a:spcAft>
                <a:spcPts val="0"/>
              </a:spcAft>
              <a:buSzPts val="2350"/>
              <a:buChar char="●"/>
            </a:pPr>
            <a:r>
              <a:rPr lang="en-US" sz="2350"/>
              <a:t>Sorted Data Logic</a:t>
            </a:r>
            <a:endParaRPr sz="235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g321ef500c28_3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50" y="3254071"/>
            <a:ext cx="5437545" cy="3480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21ef500c28_3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495" y="1057148"/>
            <a:ext cx="50101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21ef500c28_3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7695" y="3524048"/>
            <a:ext cx="4048562" cy="32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4D4150-F336-47BA-B149-BEC527E7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1ef500c28_3_37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Times New Roman"/>
              <a:buNone/>
            </a:pPr>
            <a:r>
              <a:rPr lang="en-US"/>
              <a:t>Quick Sort (Experiment)</a:t>
            </a:r>
            <a:endParaRPr/>
          </a:p>
        </p:txBody>
      </p:sp>
      <p:pic>
        <p:nvPicPr>
          <p:cNvPr id="218" name="Google Shape;218;g321ef500c28_3_37"/>
          <p:cNvPicPr preferRelativeResize="0"/>
          <p:nvPr/>
        </p:nvPicPr>
        <p:blipFill rotWithShape="1">
          <a:blip r:embed="rId3">
            <a:alphaModFix/>
          </a:blip>
          <a:srcRect l="38286" t="22333" b="23851"/>
          <a:stretch/>
        </p:blipFill>
        <p:spPr>
          <a:xfrm>
            <a:off x="987450" y="1106050"/>
            <a:ext cx="10373274" cy="5571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21ef500c28_3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50" y="1106050"/>
            <a:ext cx="11915900" cy="12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7CF0CFF-6FB1-437C-A79A-A7784949CC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1ef500c28_0_0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Matmul 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26" name="Google Shape;226;g321ef500c28_0_0"/>
          <p:cNvPicPr preferRelativeResize="0"/>
          <p:nvPr/>
        </p:nvPicPr>
        <p:blipFill rotWithShape="1">
          <a:blip r:embed="rId3">
            <a:alphaModFix/>
          </a:blip>
          <a:srcRect l="-1577" t="13794" r="35566" b="12120"/>
          <a:stretch/>
        </p:blipFill>
        <p:spPr>
          <a:xfrm>
            <a:off x="2440250" y="1322888"/>
            <a:ext cx="6151201" cy="482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48B646A-109E-407C-BC03-E352658F88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1ef500c28_0_7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Matmul FSM</a:t>
            </a:r>
            <a:endParaRPr/>
          </a:p>
        </p:txBody>
      </p:sp>
      <p:sp>
        <p:nvSpPr>
          <p:cNvPr id="233" name="Google Shape;233;g321ef500c28_0_7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4" name="Google Shape;234;g321ef500c28_0_7"/>
          <p:cNvPicPr preferRelativeResize="0"/>
          <p:nvPr/>
        </p:nvPicPr>
        <p:blipFill rotWithShape="1">
          <a:blip r:embed="rId3">
            <a:alphaModFix/>
          </a:blip>
          <a:srcRect l="2687" t="20753" r="12263" b="9395"/>
          <a:stretch/>
        </p:blipFill>
        <p:spPr>
          <a:xfrm>
            <a:off x="897825" y="1136075"/>
            <a:ext cx="8348051" cy="4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2B970A7-6067-458E-8AF5-886F71820B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1ef500c28_0_14"/>
          <p:cNvSpPr txBox="1">
            <a:spLocks noGrp="1"/>
          </p:cNvSpPr>
          <p:nvPr>
            <p:ph type="title"/>
          </p:nvPr>
        </p:nvSpPr>
        <p:spPr>
          <a:xfrm>
            <a:off x="845127" y="214466"/>
            <a:ext cx="10515600" cy="534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Matmul </a:t>
            </a:r>
            <a:endParaRPr/>
          </a:p>
        </p:txBody>
      </p:sp>
      <p:sp>
        <p:nvSpPr>
          <p:cNvPr id="241" name="Google Shape;241;g321ef500c28_0_14"/>
          <p:cNvSpPr txBox="1">
            <a:spLocks noGrp="1"/>
          </p:cNvSpPr>
          <p:nvPr>
            <p:ph type="body" idx="1"/>
          </p:nvPr>
        </p:nvSpPr>
        <p:spPr>
          <a:xfrm>
            <a:off x="845127" y="1136071"/>
            <a:ext cx="10515600" cy="507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g321ef500c28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075" y="1191479"/>
            <a:ext cx="10262705" cy="212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0B1F574-2768-4CF6-AA26-28FA66CA36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寬螢幕</PresentationFormat>
  <Paragraphs>99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標楷體</vt:lpstr>
      <vt:lpstr>Calibri</vt:lpstr>
      <vt:lpstr>Arial</vt:lpstr>
      <vt:lpstr>Noto Sans Symbols</vt:lpstr>
      <vt:lpstr>Times New Roman</vt:lpstr>
      <vt:lpstr>Impact</vt:lpstr>
      <vt:lpstr>Arial Black</vt:lpstr>
      <vt:lpstr>HDOfficeLightV0</vt:lpstr>
      <vt:lpstr>Final Project WLOS Optimization</vt:lpstr>
      <vt:lpstr>Outline</vt:lpstr>
      <vt:lpstr>Module Block</vt:lpstr>
      <vt:lpstr>Architecture</vt:lpstr>
      <vt:lpstr>SDRAM Control</vt:lpstr>
      <vt:lpstr>SDRAM Control</vt:lpstr>
      <vt:lpstr>Firmware code</vt:lpstr>
      <vt:lpstr>DMA Transfer Data</vt:lpstr>
      <vt:lpstr>Quick Sort</vt:lpstr>
      <vt:lpstr>Quick Sort</vt:lpstr>
      <vt:lpstr>Quick Sort (Experiment)</vt:lpstr>
      <vt:lpstr>Matmul </vt:lpstr>
      <vt:lpstr>Matmul FSM</vt:lpstr>
      <vt:lpstr>Matmul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 WLOS Optimization</dc:title>
  <dc:creator>Howard Zhong</dc:creator>
  <cp:lastModifiedBy>hank</cp:lastModifiedBy>
  <cp:revision>2</cp:revision>
  <dcterms:created xsi:type="dcterms:W3CDTF">2023-05-20T09:39:55Z</dcterms:created>
  <dcterms:modified xsi:type="dcterms:W3CDTF">2024-12-28T15:27:04Z</dcterms:modified>
</cp:coreProperties>
</file>