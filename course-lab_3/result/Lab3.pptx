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4"/>
  </p:notesMasterIdLst>
  <p:sldIdLst>
    <p:sldId id="256" r:id="rId2"/>
    <p:sldId id="258" r:id="rId3"/>
    <p:sldId id="259" r:id="rId4"/>
    <p:sldId id="267" r:id="rId5"/>
    <p:sldId id="268" r:id="rId6"/>
    <p:sldId id="260" r:id="rId7"/>
    <p:sldId id="261" r:id="rId8"/>
    <p:sldId id="262" r:id="rId9"/>
    <p:sldId id="263" r:id="rId10"/>
    <p:sldId id="264" r:id="rId11"/>
    <p:sldId id="265" r:id="rId12"/>
    <p:sldId id="269" r:id="rId13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56BA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263" autoAdjust="0"/>
    <p:restoredTop sz="90941" autoAdjust="0"/>
  </p:normalViewPr>
  <p:slideViewPr>
    <p:cSldViewPr snapToGrid="0">
      <p:cViewPr varScale="1">
        <p:scale>
          <a:sx n="61" d="100"/>
          <a:sy n="61" d="100"/>
        </p:scale>
        <p:origin x="912" y="6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7" d="100"/>
          <a:sy n="87" d="100"/>
        </p:scale>
        <p:origin x="-3822" y="-78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9DDF730-D5BD-408C-AAAF-86ED09196212}" type="datetimeFigureOut">
              <a:rPr lang="zh-TW" altLang="en-US" smtClean="0"/>
              <a:t>2024/12/28</a:t>
            </a:fld>
            <a:endParaRPr lang="zh-TW" altLang="en-US"/>
          </a:p>
        </p:txBody>
      </p:sp>
      <p:sp>
        <p:nvSpPr>
          <p:cNvPr id="4" name="投影片影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6CFFAE8-B663-45FE-ABF6-5C4B27D6B91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4018360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6CFFAE8-B663-45FE-ABF6-5C4B27D6B915}" type="slidenum">
              <a:rPr lang="zh-TW" altLang="en-US" smtClean="0"/>
              <a:t>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32589846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7" Type="http://schemas.openxmlformats.org/officeDocument/2006/relationships/image" Target="../media/image4.jpe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3.png"/><Relationship Id="rId5" Type="http://schemas.microsoft.com/office/2007/relationships/hdphoto" Target="../media/hdphoto2.wdp"/><Relationship Id="rId4" Type="http://schemas.openxmlformats.org/officeDocument/2006/relationships/image" Target="../media/image2.png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AA64B4-4327-4F6A-A140-5BDED692BA99}" type="datetimeFigureOut">
              <a:rPr lang="zh-TW" altLang="en-US" smtClean="0"/>
              <a:t>2024/12/28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62BEBE-139C-4F4A-87B4-C5FD79C70161}" type="slidenum">
              <a:rPr lang="zh-TW" altLang="en-US" smtClean="0"/>
              <a:t>‹#›</a:t>
            </a:fld>
            <a:endParaRPr lang="zh-TW" altLang="en-US"/>
          </a:p>
        </p:txBody>
      </p:sp>
      <p:pic>
        <p:nvPicPr>
          <p:cNvPr id="7" name="圖片 6">
            <a:extLst>
              <a:ext uri="{FF2B5EF4-FFF2-40B4-BE49-F238E27FC236}">
                <a16:creationId xmlns:a16="http://schemas.microsoft.com/office/drawing/2014/main" id="{D9404CB8-58AF-A257-03C3-24CAEF50B081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 amt="20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PastelsSmooth/>
                    </a14:imgEffect>
                  </a14:imgLayer>
                </a14:imgProps>
              </a:ext>
            </a:extLst>
          </a:blip>
          <a:srcRect l="56526" t="32482"/>
          <a:stretch/>
        </p:blipFill>
        <p:spPr>
          <a:xfrm>
            <a:off x="9916998" y="4647230"/>
            <a:ext cx="2309299" cy="2201708"/>
          </a:xfrm>
          <a:prstGeom prst="rect">
            <a:avLst/>
          </a:prstGeom>
          <a:effectLst>
            <a:softEdge rad="635000"/>
          </a:effectLst>
        </p:spPr>
      </p:pic>
      <p:pic>
        <p:nvPicPr>
          <p:cNvPr id="8" name="圖片 7">
            <a:extLst>
              <a:ext uri="{FF2B5EF4-FFF2-40B4-BE49-F238E27FC236}">
                <a16:creationId xmlns:a16="http://schemas.microsoft.com/office/drawing/2014/main" id="{18CC766D-A6D2-6FE4-4AE4-BD1114262C90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10000" b="90000" l="9925" r="89325">
                        <a14:foregroundMark x1="63787" y1="82716" x2="88787" y2="47531"/>
                        <a14:foregroundMark x1="88787" y1="47531" x2="89154" y2="45062"/>
                      </a14:backgroundRemoval>
                    </a14:imgEffect>
                  </a14:imgLayer>
                </a14:imgProps>
              </a:ext>
            </a:extLst>
          </a:blip>
          <a:srcRect r="750"/>
          <a:stretch/>
        </p:blipFill>
        <p:spPr>
          <a:xfrm>
            <a:off x="7768045" y="6230874"/>
            <a:ext cx="4423955" cy="538452"/>
          </a:xfrm>
          <a:prstGeom prst="rect">
            <a:avLst/>
          </a:prstGeom>
        </p:spPr>
      </p:pic>
      <p:sp>
        <p:nvSpPr>
          <p:cNvPr id="9" name="矩形 8">
            <a:extLst>
              <a:ext uri="{FF2B5EF4-FFF2-40B4-BE49-F238E27FC236}">
                <a16:creationId xmlns:a16="http://schemas.microsoft.com/office/drawing/2014/main" id="{797D55AF-990D-822E-5DCD-240609F29875}"/>
              </a:ext>
            </a:extLst>
          </p:cNvPr>
          <p:cNvSpPr/>
          <p:nvPr/>
        </p:nvSpPr>
        <p:spPr>
          <a:xfrm>
            <a:off x="0" y="6658494"/>
            <a:ext cx="12192000" cy="199506"/>
          </a:xfrm>
          <a:prstGeom prst="rect">
            <a:avLst/>
          </a:prstGeom>
          <a:solidFill>
            <a:srgbClr val="192F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pic>
        <p:nvPicPr>
          <p:cNvPr id="11" name="圖片 10">
            <a:extLst>
              <a:ext uri="{FF2B5EF4-FFF2-40B4-BE49-F238E27FC236}">
                <a16:creationId xmlns:a16="http://schemas.microsoft.com/office/drawing/2014/main" id="{0148D4D3-F5B1-4A3F-4ABC-EE1F29BBE7B0}"/>
              </a:ext>
            </a:extLst>
          </p:cNvPr>
          <p:cNvPicPr>
            <a:picLocks noChangeAspect="1"/>
          </p:cNvPicPr>
          <p:nvPr/>
        </p:nvPicPr>
        <p:blipFill rotWithShape="1">
          <a:blip r:embed="rId6">
            <a:alphaModFix amt="22000"/>
          </a:blip>
          <a:srcRect t="6314"/>
          <a:stretch/>
        </p:blipFill>
        <p:spPr>
          <a:xfrm>
            <a:off x="0" y="9062"/>
            <a:ext cx="12192000" cy="876637"/>
          </a:xfrm>
          <a:prstGeom prst="rect">
            <a:avLst/>
          </a:prstGeom>
          <a:solidFill>
            <a:schemeClr val="bg1"/>
          </a:solidFill>
        </p:spPr>
      </p:pic>
      <p:sp>
        <p:nvSpPr>
          <p:cNvPr id="12" name="矩形 11">
            <a:extLst>
              <a:ext uri="{FF2B5EF4-FFF2-40B4-BE49-F238E27FC236}">
                <a16:creationId xmlns:a16="http://schemas.microsoft.com/office/drawing/2014/main" id="{1A9CFFFA-1202-CFAA-E771-E1588181586B}"/>
              </a:ext>
            </a:extLst>
          </p:cNvPr>
          <p:cNvSpPr/>
          <p:nvPr/>
        </p:nvSpPr>
        <p:spPr>
          <a:xfrm>
            <a:off x="3823855" y="0"/>
            <a:ext cx="8358909" cy="3011980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0"/>
                </a:schemeClr>
              </a:gs>
              <a:gs pos="38000">
                <a:schemeClr val="bg1"/>
              </a:gs>
              <a:gs pos="100000">
                <a:schemeClr val="bg1"/>
              </a:gs>
            </a:gsLst>
            <a:lin ang="27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CD59B8B0-7FAF-0C28-9EC9-6A7E3BC136F8}"/>
              </a:ext>
            </a:extLst>
          </p:cNvPr>
          <p:cNvSpPr/>
          <p:nvPr/>
        </p:nvSpPr>
        <p:spPr>
          <a:xfrm>
            <a:off x="7728" y="554768"/>
            <a:ext cx="12175036" cy="1111120"/>
          </a:xfrm>
          <a:prstGeom prst="rect">
            <a:avLst/>
          </a:prstGeom>
          <a:gradFill>
            <a:gsLst>
              <a:gs pos="0">
                <a:schemeClr val="bg1">
                  <a:alpha val="0"/>
                </a:schemeClr>
              </a:gs>
              <a:gs pos="23000">
                <a:schemeClr val="bg1"/>
              </a:gs>
              <a:gs pos="100000">
                <a:schemeClr val="bg1"/>
              </a:gs>
            </a:gsLst>
            <a:lin ang="5400000" scaled="1"/>
          </a:gra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451A62C3-137B-7C71-720D-378EDD1BC504}"/>
              </a:ext>
            </a:extLst>
          </p:cNvPr>
          <p:cNvSpPr/>
          <p:nvPr/>
        </p:nvSpPr>
        <p:spPr>
          <a:xfrm>
            <a:off x="1254919" y="3539753"/>
            <a:ext cx="9653803" cy="45719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pic>
        <p:nvPicPr>
          <p:cNvPr id="15" name="Picture 4" descr="臺大校徽- 國立臺灣大學">
            <a:extLst>
              <a:ext uri="{FF2B5EF4-FFF2-40B4-BE49-F238E27FC236}">
                <a16:creationId xmlns:a16="http://schemas.microsoft.com/office/drawing/2014/main" id="{AD0BC4DB-2814-6604-1489-152EB1DD800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95395" y="9061"/>
            <a:ext cx="1188876" cy="11787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4530"/>
            <a:ext cx="9144000" cy="2387600"/>
          </a:xfrm>
        </p:spPr>
        <p:txBody>
          <a:bodyPr anchor="b">
            <a:normAutofit/>
          </a:bodyPr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28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zh-TW" altLang="en-US"/>
              <a:t>按一下以編輯母片副標題樣式</a:t>
            </a:r>
            <a:endParaRPr lang="en-US" dirty="0"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1BE789E7-A42E-053E-225F-4E3B72A02730}"/>
              </a:ext>
            </a:extLst>
          </p:cNvPr>
          <p:cNvSpPr/>
          <p:nvPr/>
        </p:nvSpPr>
        <p:spPr>
          <a:xfrm>
            <a:off x="11647054" y="6230873"/>
            <a:ext cx="554181" cy="511739"/>
          </a:xfrm>
          <a:prstGeom prst="rect">
            <a:avLst/>
          </a:prstGeom>
          <a:solidFill>
            <a:srgbClr val="192F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98F3A830-C263-6D54-751F-AF9CDB2CA2A5}"/>
              </a:ext>
            </a:extLst>
          </p:cNvPr>
          <p:cNvSpPr txBox="1"/>
          <p:nvPr/>
        </p:nvSpPr>
        <p:spPr>
          <a:xfrm>
            <a:off x="11157360" y="6399994"/>
            <a:ext cx="10438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>
                <a:solidFill>
                  <a:schemeClr val="bg1"/>
                </a:solidFill>
                <a:latin typeface="Arial Black" panose="020B0A04020102020204" pitchFamily="34" charset="0"/>
              </a:rPr>
              <a:t>ECLAB</a:t>
            </a:r>
            <a:endParaRPr lang="zh-TW" altLang="en-US" dirty="0">
              <a:solidFill>
                <a:schemeClr val="bg1"/>
              </a:solidFill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873810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5127" y="214466"/>
            <a:ext cx="10515600" cy="534155"/>
          </a:xfrm>
        </p:spPr>
        <p:txBody>
          <a:bodyPr/>
          <a:lstStyle>
            <a:lvl1pPr>
              <a:defRPr baseline="0">
                <a:solidFill>
                  <a:srgbClr val="002060"/>
                </a:solidFill>
                <a:latin typeface="+mn-lt"/>
                <a:ea typeface="+mn-ea"/>
                <a:cs typeface="Arial Unicode MS" pitchFamily="34" charset="-120"/>
              </a:defRPr>
            </a:lvl1pPr>
          </a:lstStyle>
          <a:p>
            <a:r>
              <a:rPr lang="zh-TW" altLang="en-US" dirty="0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45127" y="1136071"/>
            <a:ext cx="10515600" cy="5077693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600"/>
            </a:lvl5pPr>
          </a:lstStyle>
          <a:p>
            <a:pPr lvl="0"/>
            <a:r>
              <a:rPr lang="zh-TW" altLang="en-US" dirty="0"/>
              <a:t>按一下以編輯母片文字樣式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  <a:p>
            <a:pPr lvl="3"/>
            <a:r>
              <a:rPr lang="zh-TW" altLang="en-US" dirty="0"/>
              <a:t>第四層</a:t>
            </a:r>
          </a:p>
          <a:p>
            <a:pPr lvl="4"/>
            <a:r>
              <a:rPr lang="zh-TW" altLang="en-US" dirty="0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AA64B4-4327-4F6A-A140-5BDED692BA99}" type="datetimeFigureOut">
              <a:rPr lang="zh-TW" altLang="en-US" smtClean="0"/>
              <a:t>2024/12/28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62BEBE-139C-4F4A-87B4-C5FD79C70161}" type="slidenum">
              <a:rPr lang="zh-TW" altLang="en-US" smtClean="0"/>
              <a:t>‹#›</a:t>
            </a:fld>
            <a:endParaRPr lang="zh-TW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4D15975C-FBC9-5DE0-5F8C-4883BA8730C2}"/>
              </a:ext>
            </a:extLst>
          </p:cNvPr>
          <p:cNvSpPr/>
          <p:nvPr/>
        </p:nvSpPr>
        <p:spPr>
          <a:xfrm>
            <a:off x="645319" y="894194"/>
            <a:ext cx="11094099" cy="45719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pic>
        <p:nvPicPr>
          <p:cNvPr id="8" name="圖片 7">
            <a:extLst>
              <a:ext uri="{FF2B5EF4-FFF2-40B4-BE49-F238E27FC236}">
                <a16:creationId xmlns:a16="http://schemas.microsoft.com/office/drawing/2014/main" id="{AC694E98-9393-AC65-DDA2-61486794BF5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73546"/>
          <a:stretch/>
        </p:blipFill>
        <p:spPr>
          <a:xfrm flipV="1">
            <a:off x="9294829" y="4893"/>
            <a:ext cx="2897171" cy="764109"/>
          </a:xfrm>
          <a:prstGeom prst="rect">
            <a:avLst/>
          </a:prstGeom>
        </p:spPr>
      </p:pic>
      <p:sp>
        <p:nvSpPr>
          <p:cNvPr id="11" name="文字方塊 10">
            <a:extLst>
              <a:ext uri="{FF2B5EF4-FFF2-40B4-BE49-F238E27FC236}">
                <a16:creationId xmlns:a16="http://schemas.microsoft.com/office/drawing/2014/main" id="{7EC05BD5-6EB6-0D06-C257-2C9F9A1076C1}"/>
              </a:ext>
            </a:extLst>
          </p:cNvPr>
          <p:cNvSpPr txBox="1"/>
          <p:nvPr/>
        </p:nvSpPr>
        <p:spPr>
          <a:xfrm>
            <a:off x="10411761" y="8880"/>
            <a:ext cx="176595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TW" sz="2000" b="0" dirty="0">
                <a:solidFill>
                  <a:schemeClr val="accent1">
                    <a:lumMod val="40000"/>
                    <a:lumOff val="60000"/>
                  </a:schemeClr>
                </a:solidFill>
                <a:latin typeface="Impact" panose="020B0806030902050204" pitchFamily="34" charset="0"/>
              </a:rPr>
              <a:t>ECLAB</a:t>
            </a:r>
            <a:endParaRPr lang="zh-TW" altLang="en-US" sz="2000" b="0" dirty="0">
              <a:solidFill>
                <a:schemeClr val="accent1">
                  <a:lumMod val="40000"/>
                  <a:lumOff val="60000"/>
                </a:schemeClr>
              </a:solidFill>
              <a:latin typeface="Impact" panose="020B080603090205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334508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12423"/>
            <a:ext cx="10515600" cy="2851208"/>
          </a:xfrm>
        </p:spPr>
        <p:txBody>
          <a:bodyPr anchor="b">
            <a:normAutofit/>
          </a:bodyPr>
          <a:lstStyle>
            <a:lvl1pPr>
              <a:defRPr sz="6000" b="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52633"/>
            <a:ext cx="10515600" cy="1500187"/>
          </a:xfrm>
        </p:spPr>
        <p:txBody>
          <a:bodyPr anchor="t">
            <a:normAutofit/>
          </a:bodyPr>
          <a:lstStyle>
            <a:lvl1pPr marL="0" indent="0"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AA64B4-4327-4F6A-A140-5BDED692BA99}" type="datetimeFigureOut">
              <a:rPr lang="zh-TW" altLang="en-US" smtClean="0"/>
              <a:t>2024/12/28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62BEBE-139C-4F4A-87B4-C5FD79C7016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872379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45127" y="1828800"/>
            <a:ext cx="5181600" cy="4351337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8800"/>
            <a:ext cx="5181600" cy="4351337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AA64B4-4327-4F6A-A140-5BDED692BA99}" type="datetimeFigureOut">
              <a:rPr lang="zh-TW" altLang="en-US" smtClean="0"/>
              <a:t>2024/12/28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62BEBE-139C-4F4A-87B4-C5FD79C7016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40362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45127" y="1681850"/>
            <a:ext cx="5156200" cy="825699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45127" y="2507550"/>
            <a:ext cx="5156200" cy="3680525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851"/>
            <a:ext cx="5181601" cy="825698"/>
          </a:xfrm>
        </p:spPr>
        <p:txBody>
          <a:bodyPr anchor="b"/>
          <a:lstStyle>
            <a:lvl1pPr marL="0" indent="0">
              <a:spcBef>
                <a:spcPts val="0"/>
              </a:spcBef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7550"/>
            <a:ext cx="5181601" cy="3680525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AA64B4-4327-4F6A-A140-5BDED692BA99}" type="datetimeFigureOut">
              <a:rPr lang="zh-TW" altLang="en-US" smtClean="0"/>
              <a:t>2024/12/28</a:t>
            </a:fld>
            <a:endParaRPr lang="zh-TW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62BEBE-139C-4F4A-87B4-C5FD79C70161}" type="slidenum">
              <a:rPr lang="zh-TW" altLang="en-US" smtClean="0"/>
              <a:t>‹#›</a:t>
            </a:fld>
            <a:endParaRPr lang="zh-TW" altLang="en-US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400078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AA64B4-4327-4F6A-A140-5BDED692BA99}" type="datetimeFigureOut">
              <a:rPr lang="zh-TW" altLang="en-US" smtClean="0"/>
              <a:t>2024/12/28</a:t>
            </a:fld>
            <a:endParaRPr lang="zh-TW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62BEBE-139C-4F4A-87B4-C5FD79C70161}" type="slidenum">
              <a:rPr lang="zh-TW" altLang="en-US" smtClean="0"/>
              <a:t>‹#›</a:t>
            </a:fld>
            <a:endParaRPr lang="zh-TW" altLang="en-US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32433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AA64B4-4327-4F6A-A140-5BDED692BA99}" type="datetimeFigureOut">
              <a:rPr lang="zh-TW" altLang="en-US" smtClean="0"/>
              <a:t>2024/12/28</a:t>
            </a:fld>
            <a:endParaRPr lang="zh-TW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62BEBE-139C-4F4A-87B4-C5FD79C7016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050043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1248" y="457200"/>
            <a:ext cx="3931920" cy="1600197"/>
          </a:xfrm>
        </p:spPr>
        <p:txBody>
          <a:bodyPr anchor="b">
            <a:normAutofit/>
          </a:bodyPr>
          <a:lstStyle>
            <a:lvl1pPr>
              <a:defRPr sz="3200" b="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1600" y="990600"/>
            <a:ext cx="6172200" cy="48768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1248" y="2057399"/>
            <a:ext cx="3931920" cy="3810001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AA64B4-4327-4F6A-A140-5BDED692BA99}" type="datetimeFigureOut">
              <a:rPr lang="zh-TW" altLang="en-US" smtClean="0"/>
              <a:t>2024/12/28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62BEBE-139C-4F4A-87B4-C5FD79C7016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160125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1248" y="457200"/>
            <a:ext cx="3931920" cy="1600200"/>
          </a:xfrm>
        </p:spPr>
        <p:txBody>
          <a:bodyPr anchor="b">
            <a:normAutofit/>
          </a:bodyPr>
          <a:lstStyle>
            <a:lvl1pPr>
              <a:defRPr sz="3200" b="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1600" y="990600"/>
            <a:ext cx="6172200" cy="4876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TW" altLang="en-US"/>
              <a:t>按一下圖示以新增圖片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1248" y="2057400"/>
            <a:ext cx="3931920" cy="3810000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AA64B4-4327-4F6A-A140-5BDED692BA99}" type="datetimeFigureOut">
              <a:rPr lang="zh-TW" altLang="en-US" smtClean="0"/>
              <a:t>2024/12/28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62BEBE-139C-4F4A-87B4-C5FD79C7016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606379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AA64B4-4327-4F6A-A140-5BDED692BA99}" type="datetimeFigureOut">
              <a:rPr lang="zh-TW" altLang="en-US" smtClean="0"/>
              <a:t>2024/12/28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62BEBE-139C-4F4A-87B4-C5FD79C7016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330135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0362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0362"/>
            <a:ext cx="7734300" cy="5811837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AA64B4-4327-4F6A-A140-5BDED692BA99}" type="datetimeFigureOut">
              <a:rPr lang="zh-TW" altLang="en-US" smtClean="0"/>
              <a:t>2024/12/28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62BEBE-139C-4F4A-87B4-C5FD79C7016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951464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45127" y="365760"/>
            <a:ext cx="10515600" cy="132556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45127" y="1828800"/>
            <a:ext cx="10515600" cy="435133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E0AA64B4-4327-4F6A-A140-5BDED692BA99}" type="datetimeFigureOut">
              <a:rPr lang="zh-TW" altLang="en-US" smtClean="0"/>
              <a:t>2024/12/28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1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7527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E62BEBE-139C-4F4A-87B4-C5FD79C7016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34456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Wingdings 2" pitchFamily="18" charset="2"/>
        <a:buChar char="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 2" pitchFamily="18" charset="2"/>
        <a:buChar char="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 2" pitchFamily="18" charset="2"/>
        <a:buChar char="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 2" pitchFamily="18" charset="2"/>
        <a:buChar char="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 2" pitchFamily="18" charset="2"/>
        <a:buChar char="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Wingdings 2" pitchFamily="18" charset="2"/>
        <a:buChar char="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Wingdings 2" pitchFamily="18" charset="2"/>
        <a:buChar char="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Wingdings 2" pitchFamily="18" charset="2"/>
        <a:buChar char="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Wingdings 2" pitchFamily="18" charset="2"/>
        <a:buChar char="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1189609" y="1122363"/>
            <a:ext cx="9641148" cy="2387600"/>
          </a:xfrm>
        </p:spPr>
        <p:txBody>
          <a:bodyPr>
            <a:normAutofit/>
          </a:bodyPr>
          <a:lstStyle/>
          <a:p>
            <a:r>
              <a:rPr lang="en-US" altLang="zh-TW" sz="4800" dirty="0">
                <a:solidFill>
                  <a:srgbClr val="002060"/>
                </a:solidFill>
              </a:rPr>
              <a:t>Lab3 Verilog</a:t>
            </a:r>
            <a:r>
              <a:rPr lang="zh-TW" altLang="en-US" sz="4800" dirty="0">
                <a:solidFill>
                  <a:srgbClr val="002060"/>
                </a:solidFill>
              </a:rPr>
              <a:t> </a:t>
            </a:r>
            <a:r>
              <a:rPr lang="en-US" altLang="zh-TW" sz="4800" dirty="0">
                <a:solidFill>
                  <a:srgbClr val="002060"/>
                </a:solidFill>
              </a:rPr>
              <a:t>FIR</a:t>
            </a:r>
            <a:endParaRPr lang="zh-TW" altLang="en-US" sz="4800" dirty="0">
              <a:solidFill>
                <a:srgbClr val="002060"/>
              </a:solidFill>
            </a:endParaRP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524000" y="3774758"/>
            <a:ext cx="9144000" cy="465465"/>
          </a:xfrm>
        </p:spPr>
        <p:txBody>
          <a:bodyPr/>
          <a:lstStyle/>
          <a:p>
            <a:r>
              <a:rPr lang="en-US" altLang="zh-TW" dirty="0">
                <a:solidFill>
                  <a:srgbClr val="002060"/>
                </a:solidFill>
              </a:rPr>
              <a:t>R12943168</a:t>
            </a:r>
            <a:r>
              <a:rPr lang="zh-TW" altLang="en-US" dirty="0">
                <a:solidFill>
                  <a:srgbClr val="002060"/>
                </a:solidFill>
              </a:rPr>
              <a:t> 陳瀚坪</a:t>
            </a:r>
          </a:p>
        </p:txBody>
      </p:sp>
    </p:spTree>
    <p:extLst>
      <p:ext uri="{BB962C8B-B14F-4D97-AF65-F5344CB8AC3E}">
        <p14:creationId xmlns:p14="http://schemas.microsoft.com/office/powerpoint/2010/main" val="421239089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CCC6601-5BCE-4230-B2FA-8CD5356B35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TW" dirty="0"/>
              <a:t>Outline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2BC9CD80-EA4C-46AD-96BB-254D3ED9FE2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Block Diagram</a:t>
            </a:r>
          </a:p>
          <a:p>
            <a:r>
              <a:rPr lang="en-US" altLang="zh-TW" dirty="0"/>
              <a:t>Waveform</a:t>
            </a:r>
          </a:p>
          <a:p>
            <a:r>
              <a:rPr lang="en-US" altLang="zh-TW" dirty="0"/>
              <a:t>Tap/Data RAM access sequence &amp; its control</a:t>
            </a:r>
          </a:p>
          <a:p>
            <a:r>
              <a:rPr lang="en-US" altLang="zh-TW" dirty="0"/>
              <a:t>Axilite access timing</a:t>
            </a:r>
          </a:p>
          <a:p>
            <a:r>
              <a:rPr lang="en-US" altLang="zh-TW" dirty="0"/>
              <a:t>Axistream X, Y access timing</a:t>
            </a:r>
          </a:p>
          <a:p>
            <a:r>
              <a:rPr lang="en-US" altLang="zh-TW" dirty="0"/>
              <a:t>Special cases handling</a:t>
            </a:r>
          </a:p>
          <a:p>
            <a:r>
              <a:rPr lang="en-US" altLang="zh-TW" dirty="0"/>
              <a:t>Testbench</a:t>
            </a:r>
          </a:p>
          <a:p>
            <a:r>
              <a:rPr lang="en-US" altLang="zh-TW" dirty="0"/>
              <a:t> Code Review Questions</a:t>
            </a:r>
          </a:p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29815162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C40E4A9-F53E-488D-B422-41C424D547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TW" dirty="0"/>
              <a:t>Block Diagram</a:t>
            </a:r>
            <a:endParaRPr lang="zh-TW" altLang="en-US" dirty="0"/>
          </a:p>
        </p:txBody>
      </p:sp>
      <p:sp>
        <p:nvSpPr>
          <p:cNvPr id="7" name="內容版面配置區 6">
            <a:extLst>
              <a:ext uri="{FF2B5EF4-FFF2-40B4-BE49-F238E27FC236}">
                <a16:creationId xmlns:a16="http://schemas.microsoft.com/office/drawing/2014/main" id="{7D4F27DC-0351-42BA-AE39-C80E66DC408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Datapath</a:t>
            </a:r>
            <a:endParaRPr lang="zh-TW" altLang="en-US" dirty="0"/>
          </a:p>
        </p:txBody>
      </p:sp>
      <p:pic>
        <p:nvPicPr>
          <p:cNvPr id="9" name="圖片 8">
            <a:extLst>
              <a:ext uri="{FF2B5EF4-FFF2-40B4-BE49-F238E27FC236}">
                <a16:creationId xmlns:a16="http://schemas.microsoft.com/office/drawing/2014/main" id="{C206C2CF-0CC8-4D00-8EE1-5024001C4879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178" t="12219" r="13896" b="7337"/>
          <a:stretch/>
        </p:blipFill>
        <p:spPr>
          <a:xfrm rot="16200000">
            <a:off x="3548678" y="-21957"/>
            <a:ext cx="5094643" cy="82702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820571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C40E4A9-F53E-488D-B422-41C424D547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TW" dirty="0"/>
              <a:t>Block Diagram</a:t>
            </a:r>
            <a:endParaRPr lang="zh-TW" altLang="en-US" dirty="0"/>
          </a:p>
        </p:txBody>
      </p:sp>
      <p:sp>
        <p:nvSpPr>
          <p:cNvPr id="7" name="內容版面配置區 6">
            <a:extLst>
              <a:ext uri="{FF2B5EF4-FFF2-40B4-BE49-F238E27FC236}">
                <a16:creationId xmlns:a16="http://schemas.microsoft.com/office/drawing/2014/main" id="{7D4F27DC-0351-42BA-AE39-C80E66DC40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45127" y="1136071"/>
            <a:ext cx="10515600" cy="534155"/>
          </a:xfrm>
        </p:spPr>
        <p:txBody>
          <a:bodyPr/>
          <a:lstStyle/>
          <a:p>
            <a:r>
              <a:rPr lang="en-US" altLang="zh-TW" dirty="0"/>
              <a:t>FSM (ap_ctrl)</a:t>
            </a:r>
            <a:endParaRPr lang="zh-TW" altLang="en-US" dirty="0"/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FD28BADC-E242-4AB9-846B-1B6548BA10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3817" y="1731358"/>
            <a:ext cx="11444365" cy="39905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054826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C40E4A9-F53E-488D-B422-41C424D547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TW" dirty="0"/>
              <a:t>Block Diagram</a:t>
            </a:r>
            <a:endParaRPr lang="zh-TW" altLang="en-US" dirty="0"/>
          </a:p>
        </p:txBody>
      </p:sp>
      <p:sp>
        <p:nvSpPr>
          <p:cNvPr id="7" name="內容版面配置區 6">
            <a:extLst>
              <a:ext uri="{FF2B5EF4-FFF2-40B4-BE49-F238E27FC236}">
                <a16:creationId xmlns:a16="http://schemas.microsoft.com/office/drawing/2014/main" id="{7D4F27DC-0351-42BA-AE39-C80E66DC40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45127" y="1136071"/>
            <a:ext cx="10515600" cy="534155"/>
          </a:xfrm>
        </p:spPr>
        <p:txBody>
          <a:bodyPr/>
          <a:lstStyle/>
          <a:p>
            <a:r>
              <a:rPr lang="en-US" altLang="zh-TW" dirty="0"/>
              <a:t>FSM (filter)</a:t>
            </a:r>
            <a:endParaRPr lang="zh-TW" altLang="en-US" dirty="0"/>
          </a:p>
        </p:txBody>
      </p:sp>
      <p:pic>
        <p:nvPicPr>
          <p:cNvPr id="8" name="圖片 7">
            <a:extLst>
              <a:ext uri="{FF2B5EF4-FFF2-40B4-BE49-F238E27FC236}">
                <a16:creationId xmlns:a16="http://schemas.microsoft.com/office/drawing/2014/main" id="{41A40DDC-9E87-449D-B35E-890564C513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2598" y="1670226"/>
            <a:ext cx="11486803" cy="44405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031180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C40E4A9-F53E-488D-B422-41C424D547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TW" dirty="0"/>
              <a:t>Waveform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27FD94A8-2FAC-48C2-91B3-436246723A2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45127" y="1136071"/>
            <a:ext cx="10515600" cy="1698569"/>
          </a:xfrm>
        </p:spPr>
        <p:txBody>
          <a:bodyPr/>
          <a:lstStyle/>
          <a:p>
            <a:r>
              <a:rPr lang="en-US" altLang="zh-TW" dirty="0"/>
              <a:t>Waveform (11T / per Y)</a:t>
            </a:r>
          </a:p>
          <a:p>
            <a:r>
              <a:rPr lang="en-US" altLang="zh-TW" dirty="0"/>
              <a:t>ap_ctrl</a:t>
            </a:r>
          </a:p>
          <a:p>
            <a:r>
              <a:rPr lang="en-US" altLang="zh-TW" dirty="0"/>
              <a:t>fir_state</a:t>
            </a:r>
            <a:endParaRPr lang="zh-TW" altLang="en-US" dirty="0"/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F8BD0BCE-3E0B-42E0-9BEA-6F9781A6359C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2685" t="11161" b="64895"/>
          <a:stretch/>
        </p:blipFill>
        <p:spPr>
          <a:xfrm>
            <a:off x="397150" y="2947566"/>
            <a:ext cx="11411554" cy="36959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925419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C40E4A9-F53E-488D-B422-41C424D547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TW" dirty="0"/>
              <a:t>Tap/Data RAM access sequence &amp; its control</a:t>
            </a:r>
            <a:endParaRPr lang="zh-TW" altLang="en-US" dirty="0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0E31CF60-56E0-4ECA-9E09-5B361F1995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4784" y="1138994"/>
            <a:ext cx="11462431" cy="1954598"/>
          </a:xfrm>
          <a:prstGeom prst="rect">
            <a:avLst/>
          </a:prstGeom>
        </p:spPr>
      </p:pic>
      <p:pic>
        <p:nvPicPr>
          <p:cNvPr id="9" name="圖片 8">
            <a:extLst>
              <a:ext uri="{FF2B5EF4-FFF2-40B4-BE49-F238E27FC236}">
                <a16:creationId xmlns:a16="http://schemas.microsoft.com/office/drawing/2014/main" id="{2CCDE1C1-1D12-4E74-B6EA-C4E3D07D0B3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6072" y="3338622"/>
            <a:ext cx="11359856" cy="3143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079563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C40E4A9-F53E-488D-B422-41C424D547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TW" dirty="0"/>
              <a:t>Axilite access timing</a:t>
            </a:r>
            <a:endParaRPr lang="zh-TW" altLang="en-US" dirty="0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8B319B67-A94C-4C03-80D9-C541E9412B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1438" y="977359"/>
            <a:ext cx="9809123" cy="2649095"/>
          </a:xfrm>
          <a:prstGeom prst="rect">
            <a:avLst/>
          </a:prstGeom>
        </p:spPr>
      </p:pic>
      <p:pic>
        <p:nvPicPr>
          <p:cNvPr id="9" name="圖片 8">
            <a:extLst>
              <a:ext uri="{FF2B5EF4-FFF2-40B4-BE49-F238E27FC236}">
                <a16:creationId xmlns:a16="http://schemas.microsoft.com/office/drawing/2014/main" id="{5127A973-9635-4D96-8839-B63D682387F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57567" y="3672921"/>
            <a:ext cx="9276865" cy="31850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789021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C40E4A9-F53E-488D-B422-41C424D547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TW" dirty="0"/>
              <a:t>Special cases handling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27FD94A8-2FAC-48C2-91B3-436246723A2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45127" y="1136072"/>
            <a:ext cx="10515600" cy="3100648"/>
          </a:xfrm>
        </p:spPr>
        <p:txBody>
          <a:bodyPr/>
          <a:lstStyle/>
          <a:p>
            <a:r>
              <a:rPr lang="en-US" altLang="zh-TW" dirty="0"/>
              <a:t>Special Case</a:t>
            </a:r>
          </a:p>
          <a:p>
            <a:pPr lvl="1"/>
            <a:r>
              <a:rPr lang="en-US" altLang="zh-TW" dirty="0"/>
              <a:t>X input too fast / too slow</a:t>
            </a:r>
          </a:p>
          <a:p>
            <a:pPr lvl="1"/>
            <a:r>
              <a:rPr lang="en-US" altLang="zh-TW" dirty="0"/>
              <a:t>Y output too fast / too slow</a:t>
            </a:r>
          </a:p>
          <a:p>
            <a:pPr lvl="1"/>
            <a:endParaRPr lang="en-US" altLang="zh-TW" dirty="0"/>
          </a:p>
          <a:p>
            <a:r>
              <a:rPr lang="en-US" altLang="zh-TW" dirty="0"/>
              <a:t>To Do List</a:t>
            </a:r>
          </a:p>
          <a:p>
            <a:pPr lvl="1"/>
            <a:r>
              <a:rPr lang="en-US" altLang="zh-TW" dirty="0"/>
              <a:t>Add Input data register</a:t>
            </a:r>
          </a:p>
          <a:p>
            <a:pPr lvl="1"/>
            <a:r>
              <a:rPr lang="en-US" altLang="zh-TW" dirty="0"/>
              <a:t>Add Output data register</a:t>
            </a:r>
          </a:p>
        </p:txBody>
      </p:sp>
    </p:spTree>
    <p:extLst>
      <p:ext uri="{BB962C8B-B14F-4D97-AF65-F5344CB8AC3E}">
        <p14:creationId xmlns:p14="http://schemas.microsoft.com/office/powerpoint/2010/main" val="276030805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C40E4A9-F53E-488D-B422-41C424D547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TW" dirty="0"/>
              <a:t>Testbench</a:t>
            </a:r>
            <a:endParaRPr lang="zh-TW" altLang="en-US" dirty="0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4256C411-2C0B-422F-9558-9CAADBF883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17138" y="1135831"/>
            <a:ext cx="6957721" cy="2563786"/>
          </a:xfrm>
          <a:prstGeom prst="rect">
            <a:avLst/>
          </a:prstGeom>
        </p:spPr>
      </p:pic>
      <p:pic>
        <p:nvPicPr>
          <p:cNvPr id="9" name="圖片 8">
            <a:extLst>
              <a:ext uri="{FF2B5EF4-FFF2-40B4-BE49-F238E27FC236}">
                <a16:creationId xmlns:a16="http://schemas.microsoft.com/office/drawing/2014/main" id="{8BEFDE39-F2E5-4517-A61C-3792D5F0295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45082" y="3813861"/>
            <a:ext cx="6501832" cy="29628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169667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C40E4A9-F53E-488D-B422-41C424D547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TW" dirty="0"/>
              <a:t>Code Review Questions</a:t>
            </a:r>
            <a:endParaRPr lang="zh-TW" altLang="en-US" dirty="0"/>
          </a:p>
        </p:txBody>
      </p:sp>
      <p:pic>
        <p:nvPicPr>
          <p:cNvPr id="7" name="圖片 6">
            <a:extLst>
              <a:ext uri="{FF2B5EF4-FFF2-40B4-BE49-F238E27FC236}">
                <a16:creationId xmlns:a16="http://schemas.microsoft.com/office/drawing/2014/main" id="{39A9B095-7983-4BCC-B26A-5C2AF11385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3864" y="1756331"/>
            <a:ext cx="11244271" cy="3811349"/>
          </a:xfrm>
          <a:prstGeom prst="rect">
            <a:avLst/>
          </a:prstGeom>
        </p:spPr>
      </p:pic>
      <p:sp>
        <p:nvSpPr>
          <p:cNvPr id="8" name="內容版面配置區 6">
            <a:extLst>
              <a:ext uri="{FF2B5EF4-FFF2-40B4-BE49-F238E27FC236}">
                <a16:creationId xmlns:a16="http://schemas.microsoft.com/office/drawing/2014/main" id="{A89018C8-DD2C-41AE-BE39-3BBD18C198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45127" y="1136071"/>
            <a:ext cx="10515600" cy="534155"/>
          </a:xfrm>
        </p:spPr>
        <p:txBody>
          <a:bodyPr/>
          <a:lstStyle/>
          <a:p>
            <a:r>
              <a:rPr lang="en-US" altLang="zh-TW" dirty="0"/>
              <a:t>FIR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66082113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C40E4A9-F53E-488D-B422-41C424D547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TW" dirty="0"/>
              <a:t>Code Review Questions</a:t>
            </a:r>
            <a:endParaRPr lang="zh-TW" altLang="en-US" dirty="0"/>
          </a:p>
        </p:txBody>
      </p:sp>
      <p:sp>
        <p:nvSpPr>
          <p:cNvPr id="4" name="內容版面配置區 6">
            <a:extLst>
              <a:ext uri="{FF2B5EF4-FFF2-40B4-BE49-F238E27FC236}">
                <a16:creationId xmlns:a16="http://schemas.microsoft.com/office/drawing/2014/main" id="{6503C55B-75ED-4713-AA44-6462FEE460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45127" y="962449"/>
            <a:ext cx="10515600" cy="534155"/>
          </a:xfrm>
        </p:spPr>
        <p:txBody>
          <a:bodyPr/>
          <a:lstStyle/>
          <a:p>
            <a:r>
              <a:rPr lang="en-US" altLang="zh-TW" dirty="0"/>
              <a:t>Address</a:t>
            </a:r>
            <a:endParaRPr lang="zh-TW" altLang="en-US" dirty="0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0E27751F-006B-4B3F-A727-EAD2C130F6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8149" y="1357702"/>
            <a:ext cx="11469556" cy="3151448"/>
          </a:xfrm>
          <a:prstGeom prst="rect">
            <a:avLst/>
          </a:prstGeom>
        </p:spPr>
      </p:pic>
      <p:pic>
        <p:nvPicPr>
          <p:cNvPr id="8" name="圖片 7">
            <a:extLst>
              <a:ext uri="{FF2B5EF4-FFF2-40B4-BE49-F238E27FC236}">
                <a16:creationId xmlns:a16="http://schemas.microsoft.com/office/drawing/2014/main" id="{DE685FB2-94D2-44B0-9976-E05037E182C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8149" y="4909282"/>
            <a:ext cx="11311896" cy="1879937"/>
          </a:xfrm>
          <a:prstGeom prst="rect">
            <a:avLst/>
          </a:prstGeom>
        </p:spPr>
      </p:pic>
      <p:sp>
        <p:nvSpPr>
          <p:cNvPr id="9" name="內容版面配置區 6">
            <a:extLst>
              <a:ext uri="{FF2B5EF4-FFF2-40B4-BE49-F238E27FC236}">
                <a16:creationId xmlns:a16="http://schemas.microsoft.com/office/drawing/2014/main" id="{FE8BF016-7B60-4813-AE97-D6DE94F0DFA1}"/>
              </a:ext>
            </a:extLst>
          </p:cNvPr>
          <p:cNvSpPr txBox="1">
            <a:spLocks/>
          </p:cNvSpPr>
          <p:nvPr/>
        </p:nvSpPr>
        <p:spPr>
          <a:xfrm>
            <a:off x="845127" y="4500014"/>
            <a:ext cx="10515600" cy="53415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Wingdings 2" pitchFamily="18" charset="2"/>
              <a:buChar char="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 2" pitchFamily="18" charset="2"/>
              <a:buChar char="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 2" pitchFamily="18" charset="2"/>
              <a:buChar char="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 2" pitchFamily="18" charset="2"/>
              <a:buChar char="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 2" pitchFamily="18" charset="2"/>
              <a:buChar char="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Wingdings 2" pitchFamily="18" charset="2"/>
              <a:buChar char="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Wingdings 2" pitchFamily="18" charset="2"/>
              <a:buChar char="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Wingdings 2" pitchFamily="18" charset="2"/>
              <a:buChar char="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Wingdings 2" pitchFamily="18" charset="2"/>
              <a:buChar char="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TW" dirty="0"/>
              <a:t>AXI-Stream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61238812"/>
      </p:ext>
    </p:extLst>
  </p:cSld>
  <p:clrMapOvr>
    <a:masterClrMapping/>
  </p:clrMapOvr>
</p:sld>
</file>

<file path=ppt/theme/theme1.xml><?xml version="1.0" encoding="utf-8"?>
<a:theme xmlns:a="http://schemas.openxmlformats.org/drawingml/2006/main" name="HDOfficeLightV0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訂 2">
      <a:majorFont>
        <a:latin typeface="Times New Roman"/>
        <a:ea typeface="標楷體"/>
        <a:cs typeface=""/>
      </a:majorFont>
      <a:minorFont>
        <a:latin typeface="Times New Roman"/>
        <a:ea typeface="標楷體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5000"/>
                <a:lumMod val="110000"/>
              </a:schemeClr>
            </a:gs>
            <a:gs pos="50000">
              <a:schemeClr val="phClr">
                <a:tint val="73000"/>
                <a:satMod val="103000"/>
                <a:lumMod val="105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NTU_template</Template>
  <TotalTime>15066</TotalTime>
  <Words>121</Words>
  <Application>Microsoft Office PowerPoint</Application>
  <PresentationFormat>寬螢幕</PresentationFormat>
  <Paragraphs>38</Paragraphs>
  <Slides>12</Slides>
  <Notes>1</Notes>
  <HiddenSlides>0</HiddenSlides>
  <MMClips>0</MMClips>
  <ScaleCrop>false</ScaleCrop>
  <HeadingPairs>
    <vt:vector size="6" baseType="variant">
      <vt:variant>
        <vt:lpstr>使用字型</vt:lpstr>
      </vt:variant>
      <vt:variant>
        <vt:i4>8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12</vt:i4>
      </vt:variant>
    </vt:vector>
  </HeadingPairs>
  <TitlesOfParts>
    <vt:vector size="21" baseType="lpstr">
      <vt:lpstr>Arial Unicode MS</vt:lpstr>
      <vt:lpstr>新細明體</vt:lpstr>
      <vt:lpstr>標楷體</vt:lpstr>
      <vt:lpstr>Arial Black</vt:lpstr>
      <vt:lpstr>Calibri</vt:lpstr>
      <vt:lpstr>Impact</vt:lpstr>
      <vt:lpstr>Times New Roman</vt:lpstr>
      <vt:lpstr>Wingdings 2</vt:lpstr>
      <vt:lpstr>HDOfficeLightV0</vt:lpstr>
      <vt:lpstr>Lab3 Verilog FIR</vt:lpstr>
      <vt:lpstr>Outline</vt:lpstr>
      <vt:lpstr>Block Diagram</vt:lpstr>
      <vt:lpstr>Block Diagram</vt:lpstr>
      <vt:lpstr>Block Diagram</vt:lpstr>
      <vt:lpstr>Waveform</vt:lpstr>
      <vt:lpstr>Tap/Data RAM access sequence &amp; its control</vt:lpstr>
      <vt:lpstr>Axilite access timing</vt:lpstr>
      <vt:lpstr>Special cases handling</vt:lpstr>
      <vt:lpstr>Testbench</vt:lpstr>
      <vt:lpstr>Code Review Questions</vt:lpstr>
      <vt:lpstr>Code Review Questions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 Survey on RNA Quantification</dc:title>
  <dc:creator>Howard Zhong</dc:creator>
  <cp:lastModifiedBy>hank</cp:lastModifiedBy>
  <cp:revision>216</cp:revision>
  <dcterms:created xsi:type="dcterms:W3CDTF">2023-05-20T09:39:55Z</dcterms:created>
  <dcterms:modified xsi:type="dcterms:W3CDTF">2024-12-28T14:27:26Z</dcterms:modified>
</cp:coreProperties>
</file>